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1" r:id="rId6"/>
    <p:sldId id="262" r:id="rId7"/>
    <p:sldId id="263" r:id="rId8"/>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668" autoAdjust="0"/>
    <p:restoredTop sz="94658" autoAdjust="0"/>
  </p:normalViewPr>
  <p:slideViewPr>
    <p:cSldViewPr snapToGrid="0" snapToObjects="1">
      <p:cViewPr varScale="1">
        <p:scale>
          <a:sx n="160" d="100"/>
          <a:sy n="160" d="100"/>
        </p:scale>
        <p:origin x="936" y="176"/>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12/9/25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marL="0" lvl="0" indent="0">
              <a:buNone/>
            </a:pPr>
            <a:r>
              <a:t>Radio signatures of star–planet interactions, exoplanets and space weather</a:t>
            </a:r>
          </a:p>
        </p:txBody>
      </p:sp>
      <p:sp>
        <p:nvSpPr>
          <p:cNvPr id="3" name="Subtitle 2"/>
          <p:cNvSpPr>
            <a:spLocks noGrp="1"/>
          </p:cNvSpPr>
          <p:nvPr>
            <p:ph type="subTitle" idx="1"/>
          </p:nvPr>
        </p:nvSpPr>
        <p:spPr>
          <a:xfrm>
            <a:off x="1371600" y="2914650"/>
            <a:ext cx="6400800" cy="1314450"/>
          </a:xfrm>
        </p:spPr>
        <p:txBody>
          <a:bodyPr>
            <a:normAutofit fontScale="92500" lnSpcReduction="10000"/>
          </a:bodyPr>
          <a:lstStyle/>
          <a:p>
            <a:pPr marL="0" lvl="0" indent="0">
              <a:buNone/>
            </a:pPr>
            <a:br/>
            <a:br/>
            <a:r>
              <a:t>J. R. Callingham</a:t>
            </a:r>
            <a:br/>
            <a:r>
              <a:t>B. J. S. Pope</a:t>
            </a:r>
          </a:p>
        </p:txBody>
      </p:sp>
      <p:sp>
        <p:nvSpPr>
          <p:cNvPr id="4" name="Date Placeholder 3"/>
          <p:cNvSpPr>
            <a:spLocks noGrp="1"/>
          </p:cNvSpPr>
          <p:nvPr>
            <p:ph type="dt" sz="half" idx="10"/>
          </p:nvPr>
        </p:nvSpPr>
        <p:spPr/>
        <p:txBody>
          <a:bodyPr/>
          <a:lstStyle/>
          <a:p>
            <a:pPr marL="0" lvl="0" indent="0">
              <a:buNone/>
            </a:pPr>
            <a:r>
              <a:t>2025-12-03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82392"/>
            <a:ext cx="3008313" cy="871538"/>
          </a:xfrm>
        </p:spPr>
        <p:txBody>
          <a:bodyPr/>
          <a:lstStyle/>
          <a:p>
            <a:pPr marL="0" lvl="0" indent="0">
              <a:buNone/>
            </a:pPr>
            <a:r>
              <a:rPr dirty="0"/>
              <a:t>1. Introduction &amp; Motivation</a:t>
            </a:r>
          </a:p>
        </p:txBody>
      </p:sp>
      <p:sp>
        <p:nvSpPr>
          <p:cNvPr id="4" name="Text Placeholder 3"/>
          <p:cNvSpPr>
            <a:spLocks noGrp="1"/>
          </p:cNvSpPr>
          <p:nvPr>
            <p:ph type="body" sz="half" idx="2"/>
          </p:nvPr>
        </p:nvSpPr>
        <p:spPr>
          <a:xfrm>
            <a:off x="131197" y="408417"/>
            <a:ext cx="3437503" cy="6135258"/>
          </a:xfrm>
        </p:spPr>
        <p:txBody>
          <a:bodyPr>
            <a:normAutofit/>
          </a:bodyPr>
          <a:lstStyle/>
          <a:p>
            <a:pPr lvl="0"/>
            <a:r>
              <a:rPr sz="1100" b="1" dirty="0"/>
              <a:t>The Problem:</a:t>
            </a:r>
            <a:r>
              <a:rPr sz="1100" dirty="0"/>
              <a:t> Understanding the space environment around exoplanets is crucial for characterizing their potential habitability. This requires measuring </a:t>
            </a:r>
            <a:r>
              <a:rPr sz="1100" b="1" dirty="0"/>
              <a:t>stellar magnetic activity</a:t>
            </a:r>
            <a:r>
              <a:rPr sz="1100" dirty="0"/>
              <a:t> and </a:t>
            </a:r>
            <a:r>
              <a:rPr sz="1100" b="1" dirty="0"/>
              <a:t>space weather events</a:t>
            </a:r>
            <a:r>
              <a:rPr sz="1100" dirty="0"/>
              <a:t> (like CMEs).</a:t>
            </a:r>
            <a:endParaRPr lang="en-US" sz="1100" dirty="0"/>
          </a:p>
          <a:p>
            <a:pPr lvl="0"/>
            <a:endParaRPr sz="1100" dirty="0"/>
          </a:p>
          <a:p>
            <a:pPr lvl="0"/>
            <a:r>
              <a:rPr sz="1100" b="1" dirty="0"/>
              <a:t>The Limitation of Other Wavelengths:</a:t>
            </a:r>
            <a:r>
              <a:rPr sz="1100" dirty="0"/>
              <a:t> X-ray and UV observations tell us about the star’s atmosphere, but radio detections offer a unique, sensitive window onto the star’s </a:t>
            </a:r>
            <a:r>
              <a:rPr sz="1100" i="1" dirty="0"/>
              <a:t>magnetosphere</a:t>
            </a:r>
            <a:r>
              <a:rPr sz="1100" dirty="0"/>
              <a:t> and the </a:t>
            </a:r>
            <a:r>
              <a:rPr sz="1100" b="1" dirty="0"/>
              <a:t>exoplanet’s own magnetic field</a:t>
            </a:r>
            <a:r>
              <a:rPr sz="1100" dirty="0"/>
              <a:t> and its interaction with the star.</a:t>
            </a:r>
            <a:endParaRPr lang="en-US" sz="1100" dirty="0"/>
          </a:p>
          <a:p>
            <a:pPr lvl="0"/>
            <a:endParaRPr sz="1100" dirty="0"/>
          </a:p>
          <a:p>
            <a:pPr lvl="0"/>
            <a:r>
              <a:rPr sz="1100" b="1" dirty="0"/>
              <a:t>The Paper’s Role:</a:t>
            </a:r>
            <a:r>
              <a:rPr sz="1100" dirty="0"/>
              <a:t> This paper is a </a:t>
            </a:r>
            <a:r>
              <a:rPr sz="1100" b="1" dirty="0"/>
              <a:t>primer</a:t>
            </a:r>
            <a:r>
              <a:rPr sz="1100" dirty="0"/>
              <a:t> designed to guide new researchers, detailing the physical mechanisms and recent observational advances in the field.</a:t>
            </a:r>
            <a:endParaRPr lang="en-US" sz="1100" dirty="0"/>
          </a:p>
          <a:p>
            <a:pPr lvl="0"/>
            <a:endParaRPr sz="1100" dirty="0"/>
          </a:p>
          <a:p>
            <a:pPr lvl="0"/>
            <a:r>
              <a:rPr sz="1100" dirty="0"/>
              <a:t>☐ Detection of a CME (too tenuous to detect)</a:t>
            </a:r>
          </a:p>
          <a:p>
            <a:pPr lvl="1"/>
            <a:r>
              <a:rPr sz="1000" dirty="0"/>
              <a:t>radio free–free emission from the ionized coronal winds</a:t>
            </a:r>
          </a:p>
          <a:p>
            <a:pPr lvl="1"/>
            <a:r>
              <a:rPr sz="1000" dirty="0"/>
              <a:t>X-ray emission generated by charge exchange between the ionized wind and interstellar neutrals</a:t>
            </a:r>
          </a:p>
          <a:p>
            <a:pPr lvl="1"/>
            <a:r>
              <a:rPr lang="en-US" sz="1000" dirty="0" err="1"/>
              <a:t>A</a:t>
            </a:r>
            <a:r>
              <a:rPr sz="1000" dirty="0" err="1"/>
              <a:t>strospheric</a:t>
            </a:r>
            <a:r>
              <a:rPr sz="1000" dirty="0"/>
              <a:t> Lyα absorption and absorption from the hydrogen wall</a:t>
            </a:r>
          </a:p>
          <a:p>
            <a:pPr lvl="1"/>
            <a:r>
              <a:rPr sz="1000" b="1" dirty="0"/>
              <a:t>bursty, low-frequency radio accompanying the CME</a:t>
            </a:r>
          </a:p>
          <a:p>
            <a:pPr lvl="0"/>
            <a:r>
              <a:rPr sz="1100" dirty="0"/>
              <a:t>☐ Direct measurements of an exoplanet’s magnetic field</a:t>
            </a:r>
          </a:p>
          <a:p>
            <a:pPr lvl="1"/>
            <a:r>
              <a:rPr sz="1000" dirty="0"/>
              <a:t>auroral (radio) emission</a:t>
            </a:r>
          </a:p>
        </p:txBody>
      </p:sp>
      <p:pic>
        <p:nvPicPr>
          <p:cNvPr id="3" name="Picture 1" descr="https://content.cld.iop.org/journals/0004-637X/915/1/37/1/apjabfda5f1_lr.jpg"/>
          <p:cNvPicPr>
            <a:picLocks noGrp="1" noChangeAspect="1"/>
          </p:cNvPicPr>
          <p:nvPr/>
        </p:nvPicPr>
        <p:blipFill>
          <a:blip r:embed="rId2"/>
          <a:stretch>
            <a:fillRect/>
          </a:stretch>
        </p:blipFill>
        <p:spPr bwMode="auto">
          <a:xfrm>
            <a:off x="3568700" y="495300"/>
            <a:ext cx="5105400" cy="3784600"/>
          </a:xfrm>
          <a:prstGeom prst="rect">
            <a:avLst/>
          </a:prstGeom>
          <a:noFill/>
          <a:ln w="9525">
            <a:noFill/>
            <a:headEnd/>
            <a:tailEnd/>
          </a:ln>
        </p:spPr>
      </p:pic>
      <p:sp>
        <p:nvSpPr>
          <p:cNvPr id="6" name="TextBox 5">
            <a:extLst>
              <a:ext uri="{FF2B5EF4-FFF2-40B4-BE49-F238E27FC236}">
                <a16:creationId xmlns:a16="http://schemas.microsoft.com/office/drawing/2014/main" id="{20077370-2365-B654-842A-3CF1917C2AF1}"/>
              </a:ext>
            </a:extLst>
          </p:cNvPr>
          <p:cNvSpPr txBox="1"/>
          <p:nvPr/>
        </p:nvSpPr>
        <p:spPr>
          <a:xfrm>
            <a:off x="4029075" y="4497169"/>
            <a:ext cx="4586286" cy="523220"/>
          </a:xfrm>
          <a:prstGeom prst="rect">
            <a:avLst/>
          </a:prstGeom>
          <a:noFill/>
        </p:spPr>
        <p:txBody>
          <a:bodyPr wrap="square">
            <a:spAutoFit/>
          </a:bodyPr>
          <a:lstStyle/>
          <a:p>
            <a:pPr lvl="1"/>
            <a:r>
              <a:rPr lang="en-US" sz="1400" dirty="0"/>
              <a:t>Method: </a:t>
            </a:r>
            <a:r>
              <a:rPr lang="en-US" sz="1400" dirty="0" err="1"/>
              <a:t>astrospheric</a:t>
            </a:r>
            <a:r>
              <a:rPr lang="en-US" sz="1400" dirty="0"/>
              <a:t> Ly</a:t>
            </a:r>
            <a:r>
              <a:rPr lang="el-GR" sz="1400" dirty="0"/>
              <a:t>α </a:t>
            </a:r>
            <a:r>
              <a:rPr lang="en-US" sz="1400" dirty="0"/>
              <a:t>absorption and absorption from the hydrogen wall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6364" y="839933"/>
            <a:ext cx="8229600" cy="4147704"/>
          </a:xfrm>
        </p:spPr>
        <p:txBody>
          <a:bodyPr>
            <a:normAutofit/>
          </a:bodyPr>
          <a:lstStyle/>
          <a:p>
            <a:pPr marL="0" lvl="0" indent="0">
              <a:spcBef>
                <a:spcPts val="3000"/>
              </a:spcBef>
              <a:buNone/>
            </a:pPr>
            <a:r>
              <a:rPr b="1" dirty="0"/>
              <a:t>Key Questions</a:t>
            </a:r>
          </a:p>
          <a:p>
            <a:pPr lvl="0">
              <a:buAutoNum type="arabicPeriod"/>
            </a:pPr>
            <a:r>
              <a:rPr dirty="0"/>
              <a:t>How</a:t>
            </a:r>
            <a:r>
              <a:rPr lang="en-US" dirty="0"/>
              <a:t> to detect stellar CMEs? How</a:t>
            </a:r>
            <a:r>
              <a:rPr dirty="0"/>
              <a:t> can radio bursts (like those from the Sun) characterize stellar space weather and detect stellar CMEs?</a:t>
            </a:r>
          </a:p>
          <a:p>
            <a:pPr marL="342900" lvl="0" indent="-342900">
              <a:buAutoNum type="arabicPeriod"/>
            </a:pPr>
            <a:r>
              <a:rPr dirty="0"/>
              <a:t>What is the role of magnetic </a:t>
            </a:r>
            <a:r>
              <a:rPr b="1" dirty="0"/>
              <a:t>Star-Planet Interaction (SPI)</a:t>
            </a:r>
            <a:r>
              <a:rPr dirty="0"/>
              <a:t> in producing observable radio signals?</a:t>
            </a:r>
          </a:p>
          <a:p>
            <a:pPr marL="342900" lvl="0" indent="-342900">
              <a:buAutoNum type="arabicPeriod"/>
            </a:pPr>
            <a:r>
              <a:rPr dirty="0"/>
              <a:t>Can we directly detect the radio emission from an </a:t>
            </a:r>
            <a:r>
              <a:rPr b="1" dirty="0"/>
              <a:t>exoplanetary magnetosphere</a:t>
            </a:r>
            <a:r>
              <a:rPr dirty="0"/>
              <a:t> (like Jupiter’s aurora) and use it to measure the planet’s magnetic field?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88170"/>
            <a:ext cx="3008313" cy="871538"/>
          </a:xfrm>
        </p:spPr>
        <p:txBody>
          <a:bodyPr/>
          <a:lstStyle/>
          <a:p>
            <a:pPr marL="0" lvl="0" indent="0">
              <a:buNone/>
            </a:pPr>
            <a:r>
              <a:rPr dirty="0"/>
              <a:t>2. Key Concepts &amp; Mechanisms</a:t>
            </a:r>
          </a:p>
        </p:txBody>
      </p:sp>
      <p:sp>
        <p:nvSpPr>
          <p:cNvPr id="4" name="Text Placeholder 3"/>
          <p:cNvSpPr>
            <a:spLocks noGrp="1"/>
          </p:cNvSpPr>
          <p:nvPr>
            <p:ph type="body" sz="half" idx="2"/>
          </p:nvPr>
        </p:nvSpPr>
        <p:spPr>
          <a:xfrm>
            <a:off x="121445" y="283368"/>
            <a:ext cx="7658099" cy="3518297"/>
          </a:xfrm>
        </p:spPr>
        <p:txBody>
          <a:bodyPr/>
          <a:lstStyle/>
          <a:p>
            <a:pPr marL="0" lvl="0" indent="0">
              <a:spcBef>
                <a:spcPts val="3000"/>
              </a:spcBef>
              <a:buNone/>
            </a:pPr>
            <a:r>
              <a:rPr b="1" dirty="0"/>
              <a:t>A. Radio Emission Mechanisms</a:t>
            </a:r>
            <a:r>
              <a:rPr lang="en-US" b="1" dirty="0"/>
              <a:t> </a:t>
            </a:r>
            <a:r>
              <a:rPr dirty="0"/>
              <a:t>Two main types of radio emission in stellar systems:</a:t>
            </a:r>
          </a:p>
        </p:txBody>
      </p:sp>
      <p:pic>
        <p:nvPicPr>
          <p:cNvPr id="3" name="Picture 1" descr="s41550-024-02405-6_fig2.png"/>
          <p:cNvPicPr>
            <a:picLocks noGrp="1" noChangeAspect="1"/>
          </p:cNvPicPr>
          <p:nvPr/>
        </p:nvPicPr>
        <p:blipFill>
          <a:blip r:embed="rId2"/>
          <a:stretch>
            <a:fillRect/>
          </a:stretch>
        </p:blipFill>
        <p:spPr bwMode="auto">
          <a:xfrm>
            <a:off x="941385" y="494109"/>
            <a:ext cx="6902577" cy="2077641"/>
          </a:xfrm>
          <a:prstGeom prst="rect">
            <a:avLst/>
          </a:prstGeom>
          <a:noFill/>
          <a:ln w="9525">
            <a:noFill/>
            <a:headEnd/>
            <a:tailEnd/>
          </a:ln>
        </p:spPr>
      </p:pic>
      <p:sp>
        <p:nvSpPr>
          <p:cNvPr id="5" name="TextBox 3"/>
          <p:cNvSpPr txBox="1"/>
          <p:nvPr/>
        </p:nvSpPr>
        <p:spPr>
          <a:xfrm>
            <a:off x="9382359" y="240109"/>
            <a:ext cx="5105400" cy="508000"/>
          </a:xfrm>
          <a:prstGeom prst="rect">
            <a:avLst/>
          </a:prstGeom>
          <a:noFill/>
        </p:spPr>
        <p:txBody>
          <a:bodyPr/>
          <a:lstStyle/>
          <a:p>
            <a:pPr marL="0" lvl="0" indent="0" algn="ctr">
              <a:buNone/>
            </a:pPr>
            <a:r>
              <a:rPr dirty="0"/>
              <a:t>The emission characteristics listed to differentiate between the different mechanisms should be treated as approximate guidelines (see refs. 18,43 for a more physical differentiation based on the conditions of the plasma). </a:t>
            </a:r>
            <a:r>
              <a:rPr dirty="0" err="1"/>
              <a:t>δν</a:t>
            </a:r>
            <a:r>
              <a:rPr dirty="0"/>
              <a:t>/</a:t>
            </a:r>
            <a:r>
              <a:rPr dirty="0" err="1"/>
              <a:t>Δν</a:t>
            </a:r>
            <a:r>
              <a:rPr dirty="0"/>
              <a:t> (where </a:t>
            </a:r>
            <a:r>
              <a:rPr dirty="0" err="1"/>
              <a:t>ν</a:t>
            </a:r>
            <a:r>
              <a:rPr dirty="0"/>
              <a:t> is frequency) represents the amount of bandwidth </a:t>
            </a:r>
            <a:r>
              <a:rPr dirty="0" err="1"/>
              <a:t>δν</a:t>
            </a:r>
            <a:r>
              <a:rPr dirty="0"/>
              <a:t> the emission occupies relative to the available bandwidth </a:t>
            </a:r>
            <a:r>
              <a:rPr dirty="0" err="1"/>
              <a:t>Δν</a:t>
            </a:r>
            <a:r>
              <a:rPr dirty="0"/>
              <a:t> assuming a relatively large fractional bandwidth. Differentiating between plasma emission and emission from the ECM instability can be difficult if the time–frequency structure of the radio emission cannot be resolved. In that case, arguments can be made in </a:t>
            </a:r>
            <a:r>
              <a:rPr dirty="0" err="1"/>
              <a:t>favour</a:t>
            </a:r>
            <a:r>
              <a:rPr dirty="0"/>
              <a:t> of one emission mechanism based on the coronal scale height of the radio star, as derived from the stellar X-ray luminosity248,249. Fundamental and harmonic plasma emission have different circular polarization fractions (CPFs) and maximum brightness temperatures, with harmonic plasma emission able to reach the highest brightness temperatures but limited to ≲60% of the circular polarization fraction249. Note that the polarization fractions reported do not take propagation effects into account, which often suppress the fractional amount178.</a:t>
            </a:r>
          </a:p>
        </p:txBody>
      </p:sp>
      <p:graphicFrame>
        <p:nvGraphicFramePr>
          <p:cNvPr id="6" name="Content Placeholder 5">
            <a:extLst>
              <a:ext uri="{FF2B5EF4-FFF2-40B4-BE49-F238E27FC236}">
                <a16:creationId xmlns:a16="http://schemas.microsoft.com/office/drawing/2014/main" id="{48368FBA-1507-51C2-EEC0-4B46FCD8F5F1}"/>
              </a:ext>
            </a:extLst>
          </p:cNvPr>
          <p:cNvGraphicFramePr>
            <a:graphicFrameLocks noGrp="1"/>
          </p:cNvGraphicFramePr>
          <p:nvPr>
            <p:ph idx="1"/>
            <p:extLst>
              <p:ext uri="{D42A27DB-BD31-4B8C-83A1-F6EECF244321}">
                <p14:modId xmlns:p14="http://schemas.microsoft.com/office/powerpoint/2010/main" val="67493312"/>
              </p:ext>
            </p:extLst>
          </p:nvPr>
        </p:nvGraphicFramePr>
        <p:xfrm>
          <a:off x="351352" y="2606040"/>
          <a:ext cx="8229600" cy="253746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0">
                <a:tc>
                  <a:txBody>
                    <a:bodyPr/>
                    <a:lstStyle/>
                    <a:p>
                      <a:pPr marL="0" lvl="0" indent="0" algn="l">
                        <a:buNone/>
                      </a:pPr>
                      <a:r>
                        <a:t>Type</a:t>
                      </a:r>
                    </a:p>
                  </a:txBody>
                  <a:tcPr/>
                </a:tc>
                <a:tc>
                  <a:txBody>
                    <a:bodyPr/>
                    <a:lstStyle/>
                    <a:p>
                      <a:pPr marL="0" lvl="0" indent="0" algn="l">
                        <a:buNone/>
                      </a:pPr>
                      <a:r>
                        <a:t>Mechanism</a:t>
                      </a:r>
                    </a:p>
                  </a:txBody>
                  <a:tcPr/>
                </a:tc>
                <a:tc>
                  <a:txBody>
                    <a:bodyPr/>
                    <a:lstStyle/>
                    <a:p>
                      <a:pPr marL="0" lvl="0" indent="0" algn="l">
                        <a:buNone/>
                      </a:pPr>
                      <a:r>
                        <a:t>Physics</a:t>
                      </a:r>
                    </a:p>
                  </a:txBody>
                  <a:tcPr/>
                </a:tc>
                <a:tc>
                  <a:txBody>
                    <a:bodyPr/>
                    <a:lstStyle/>
                    <a:p>
                      <a:pPr marL="0" lvl="0" indent="0" algn="l">
                        <a:buNone/>
                      </a:pPr>
                      <a:r>
                        <a:t>Significance</a:t>
                      </a:r>
                    </a:p>
                  </a:txBody>
                  <a:tcPr/>
                </a:tc>
                <a:extLst>
                  <a:ext uri="{0D108BD9-81ED-4DB2-BD59-A6C34878D82A}">
                    <a16:rowId xmlns:a16="http://schemas.microsoft.com/office/drawing/2014/main" val="10000"/>
                  </a:ext>
                </a:extLst>
              </a:tr>
              <a:tr h="0">
                <a:tc>
                  <a:txBody>
                    <a:bodyPr/>
                    <a:lstStyle/>
                    <a:p>
                      <a:pPr marL="0" lvl="0" indent="0" algn="l">
                        <a:buNone/>
                      </a:pPr>
                      <a:r>
                        <a:rPr b="1"/>
                        <a:t>Incoherent</a:t>
                      </a:r>
                    </a:p>
                  </a:txBody>
                  <a:tcPr/>
                </a:tc>
                <a:tc>
                  <a:txBody>
                    <a:bodyPr/>
                    <a:lstStyle/>
                    <a:p>
                      <a:pPr marL="0" lvl="0" indent="0" algn="l">
                        <a:buNone/>
                      </a:pPr>
                      <a:r>
                        <a:rPr b="1"/>
                        <a:t>Gyrosynchrotron Emission</a:t>
                      </a:r>
                    </a:p>
                  </a:txBody>
                  <a:tcPr/>
                </a:tc>
                <a:tc>
                  <a:txBody>
                    <a:bodyPr/>
                    <a:lstStyle/>
                    <a:p>
                      <a:pPr marL="0" lvl="0" indent="0" algn="l">
                        <a:buNone/>
                      </a:pPr>
                      <a:r>
                        <a:t>Generated by mildly-relativistic electrons spiraling in a magnetic field.</a:t>
                      </a:r>
                    </a:p>
                  </a:txBody>
                  <a:tcPr/>
                </a:tc>
                <a:tc>
                  <a:txBody>
                    <a:bodyPr/>
                    <a:lstStyle/>
                    <a:p>
                      <a:pPr marL="0" lvl="0" indent="0" algn="l">
                        <a:buNone/>
                      </a:pPr>
                      <a:r>
                        <a:t>Associated with </a:t>
                      </a:r>
                      <a:r>
                        <a:rPr b="1"/>
                        <a:t>flares</a:t>
                      </a:r>
                      <a:r>
                        <a:t> and active regions on the star.</a:t>
                      </a:r>
                    </a:p>
                  </a:txBody>
                  <a:tcPr/>
                </a:tc>
                <a:extLst>
                  <a:ext uri="{0D108BD9-81ED-4DB2-BD59-A6C34878D82A}">
                    <a16:rowId xmlns:a16="http://schemas.microsoft.com/office/drawing/2014/main" val="10001"/>
                  </a:ext>
                </a:extLst>
              </a:tr>
              <a:tr h="0">
                <a:tc>
                  <a:txBody>
                    <a:bodyPr/>
                    <a:lstStyle/>
                    <a:p>
                      <a:pPr marL="0" lvl="0" indent="0" algn="l">
                        <a:buNone/>
                      </a:pPr>
                      <a:r>
                        <a:rPr b="1"/>
                        <a:t>Coherent</a:t>
                      </a:r>
                    </a:p>
                  </a:txBody>
                  <a:tcPr/>
                </a:tc>
                <a:tc>
                  <a:txBody>
                    <a:bodyPr/>
                    <a:lstStyle/>
                    <a:p>
                      <a:pPr marL="0" lvl="0" indent="0" algn="l">
                        <a:buNone/>
                      </a:pPr>
                      <a:r>
                        <a:rPr b="1" dirty="0"/>
                        <a:t>Electron Cyclotron Maser Instability (ECMI)</a:t>
                      </a:r>
                    </a:p>
                  </a:txBody>
                  <a:tcPr/>
                </a:tc>
                <a:tc>
                  <a:txBody>
                    <a:bodyPr/>
                    <a:lstStyle/>
                    <a:p>
                      <a:pPr marL="0" lvl="0" indent="0" algn="l">
                        <a:buNone/>
                      </a:pPr>
                      <a:r>
                        <a:t>Generated by energetic electrons trapped in a magnetic field. All electrons emit in phase, resulting in </a:t>
                      </a:r>
                      <a:r>
                        <a:rPr i="1"/>
                        <a:t>extremely bright</a:t>
                      </a:r>
                      <a:r>
                        <a:t> radiation.</a:t>
                      </a:r>
                    </a:p>
                  </a:txBody>
                  <a:tcPr/>
                </a:tc>
                <a:tc>
                  <a:txBody>
                    <a:bodyPr/>
                    <a:lstStyle/>
                    <a:p>
                      <a:pPr marL="0" lvl="0" indent="0" algn="l">
                        <a:buNone/>
                      </a:pPr>
                      <a:r>
                        <a:rPr dirty="0"/>
                        <a:t>This is the mechanism for </a:t>
                      </a:r>
                      <a:r>
                        <a:rPr b="1" dirty="0"/>
                        <a:t>stellar auroral emission</a:t>
                      </a:r>
                      <a:r>
                        <a:rPr dirty="0"/>
                        <a:t>, </a:t>
                      </a:r>
                      <a:r>
                        <a:rPr b="1" dirty="0"/>
                        <a:t>planetary auroral emission</a:t>
                      </a:r>
                      <a:r>
                        <a:rPr dirty="0"/>
                        <a:t>, and </a:t>
                      </a:r>
                      <a:r>
                        <a:rPr b="1" dirty="0"/>
                        <a:t>Star-Planet Interaction</a:t>
                      </a:r>
                      <a:r>
                        <a:rPr dirty="0"/>
                        <a:t> signatures.</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0" y="0"/>
            <a:ext cx="3008313" cy="3518297"/>
          </a:xfrm>
        </p:spPr>
        <p:txBody>
          <a:bodyPr/>
          <a:lstStyle/>
          <a:p>
            <a:pPr marL="0" lvl="0" indent="0">
              <a:spcBef>
                <a:spcPts val="3000"/>
              </a:spcBef>
              <a:buNone/>
            </a:pPr>
            <a:r>
              <a:rPr b="1" dirty="0"/>
              <a:t>B. Solar System Analogues</a:t>
            </a:r>
          </a:p>
          <a:p>
            <a:pPr marL="0" lvl="0" indent="0">
              <a:buNone/>
            </a:pPr>
            <a:r>
              <a:rPr dirty="0"/>
              <a:t>Sun and Jupiter as templates</a:t>
            </a:r>
          </a:p>
        </p:txBody>
      </p:sp>
      <p:pic>
        <p:nvPicPr>
          <p:cNvPr id="2" name="Picture 1" descr="s41550-024-02405-6_fig1.png"/>
          <p:cNvPicPr>
            <a:picLocks noGrp="1" noChangeAspect="1"/>
          </p:cNvPicPr>
          <p:nvPr/>
        </p:nvPicPr>
        <p:blipFill>
          <a:blip r:embed="rId2"/>
          <a:stretch>
            <a:fillRect/>
          </a:stretch>
        </p:blipFill>
        <p:spPr bwMode="auto">
          <a:xfrm>
            <a:off x="-31442" y="2492407"/>
            <a:ext cx="6509082" cy="2606871"/>
          </a:xfrm>
          <a:prstGeom prst="rect">
            <a:avLst/>
          </a:prstGeom>
          <a:noFill/>
          <a:ln w="9525">
            <a:noFill/>
            <a:headEnd/>
            <a:tailEnd/>
          </a:ln>
        </p:spPr>
      </p:pic>
      <p:sp>
        <p:nvSpPr>
          <p:cNvPr id="5" name="TextBox 3"/>
          <p:cNvSpPr txBox="1"/>
          <p:nvPr/>
        </p:nvSpPr>
        <p:spPr>
          <a:xfrm>
            <a:off x="4365654" y="8237639"/>
            <a:ext cx="5105400" cy="508000"/>
          </a:xfrm>
          <a:prstGeom prst="rect">
            <a:avLst/>
          </a:prstGeom>
          <a:noFill/>
        </p:spPr>
        <p:txBody>
          <a:bodyPr/>
          <a:lstStyle/>
          <a:p>
            <a:pPr marL="0" lvl="0" indent="0" algn="ctr">
              <a:buNone/>
            </a:pPr>
            <a:r>
              <a:rPr dirty="0"/>
              <a:t>Fig. 1 | Schematic representation of a CME and a dynamic spectrum of the event that shows type II and III bursts. Left: schematic of a CME. Right: radio dynamic spectrum of the event. The type II burst is produced in the coronal shock front, as represented by the region emanating from the red star in the left panel. The magnetic reconnection event that is allowing mass to escape the magnetosphere of the star is shown as the yellow region. Type III bursts are produced on open field lines surrounding the magnetic reconnection event. Some structure and higher-frequency harmonic emission is evident in and around the type II burst in the right panel. The dynamic spectrum is in total intensity.</a:t>
            </a:r>
          </a:p>
        </p:txBody>
      </p:sp>
      <p:sp>
        <p:nvSpPr>
          <p:cNvPr id="3" name="Content Placeholder 2"/>
          <p:cNvSpPr>
            <a:spLocks noGrp="1"/>
          </p:cNvSpPr>
          <p:nvPr>
            <p:ph idx="1"/>
          </p:nvPr>
        </p:nvSpPr>
        <p:spPr>
          <a:xfrm>
            <a:off x="6477640" y="2135782"/>
            <a:ext cx="2540525" cy="4389835"/>
          </a:xfrm>
        </p:spPr>
        <p:txBody>
          <a:bodyPr>
            <a:normAutofit/>
          </a:bodyPr>
          <a:lstStyle/>
          <a:p>
            <a:pPr marL="0" lvl="0" indent="0">
              <a:buNone/>
            </a:pPr>
            <a:r>
              <a:rPr sz="1600" b="1" dirty="0"/>
              <a:t>Jupiter’s Aurorae</a:t>
            </a:r>
            <a:r>
              <a:rPr lang="en-US" sz="1600" b="1" dirty="0"/>
              <a:t> (ECMI)</a:t>
            </a:r>
            <a:r>
              <a:rPr sz="1600" b="1" dirty="0"/>
              <a:t>:</a:t>
            </a:r>
            <a:r>
              <a:rPr sz="1600" dirty="0"/>
              <a:t> </a:t>
            </a:r>
            <a:endParaRPr lang="en-US" sz="1600" dirty="0"/>
          </a:p>
          <a:p>
            <a:pPr marL="0" lvl="0" indent="0">
              <a:buNone/>
            </a:pPr>
            <a:endParaRPr lang="en-US" sz="1600" dirty="0"/>
          </a:p>
          <a:p>
            <a:pPr marL="0" lvl="0" indent="0">
              <a:buNone/>
            </a:pPr>
            <a:r>
              <a:rPr sz="1600" dirty="0"/>
              <a:t>The powerful, highly directional radio emission from Jupiter’s magnetic poles is the direct analogue for potential </a:t>
            </a:r>
            <a:r>
              <a:rPr sz="1600" b="1" dirty="0"/>
              <a:t>exoplanet auroral radio emission</a:t>
            </a:r>
            <a:r>
              <a:rPr sz="1600" dirty="0"/>
              <a:t>.</a:t>
            </a:r>
          </a:p>
        </p:txBody>
      </p:sp>
      <p:pic>
        <p:nvPicPr>
          <p:cNvPr id="6" name="Picture 1" descr="s41550-024-02405-6_fig3.png"/>
          <p:cNvPicPr>
            <a:picLocks noGrp="1" noChangeAspect="1"/>
          </p:cNvPicPr>
          <p:nvPr/>
        </p:nvPicPr>
        <p:blipFill>
          <a:blip r:embed="rId3"/>
          <a:stretch>
            <a:fillRect/>
          </a:stretch>
        </p:blipFill>
        <p:spPr bwMode="auto">
          <a:xfrm>
            <a:off x="3582989" y="44222"/>
            <a:ext cx="5105400" cy="2057400"/>
          </a:xfrm>
          <a:prstGeom prst="rect">
            <a:avLst/>
          </a:prstGeom>
          <a:noFill/>
          <a:ln w="9525">
            <a:noFill/>
            <a:headEnd/>
            <a:tailEnd/>
          </a:ln>
        </p:spPr>
      </p:pic>
      <p:sp>
        <p:nvSpPr>
          <p:cNvPr id="7" name="TextBox 3"/>
          <p:cNvSpPr txBox="1"/>
          <p:nvPr/>
        </p:nvSpPr>
        <p:spPr>
          <a:xfrm>
            <a:off x="-1137524" y="7591687"/>
            <a:ext cx="5105400" cy="508000"/>
          </a:xfrm>
          <a:prstGeom prst="rect">
            <a:avLst/>
          </a:prstGeom>
          <a:noFill/>
        </p:spPr>
        <p:txBody>
          <a:bodyPr/>
          <a:lstStyle/>
          <a:p>
            <a:pPr marL="0" lvl="0" indent="0" algn="ctr">
              <a:buNone/>
            </a:pPr>
            <a:r>
              <a:rPr dirty="0"/>
              <a:t>Fig. 3: Sketch illustrating the two putative sources of ECM emission in exoplanetary systems. Left: emission induced on a star by a close-in planet. If the planet orbits inside the Alfvén surface of the star, it can perturb the star’s magnetic field, producing Alfvén waves that propagate back towards the star. These waves interact with electrons, accelerating them towards the stellar surface. Electrons with sufficiently large pitch angles undergo a magnetic mirroring effect and are reflected, producing ECM emission that propagates in a hollow cone. Right: auroral emission induced on a planet by the interaction of its magnetosphere with the incident wind of its host star. The magnetic field carried by the stellar wind causes the planet’s magnetosphere to open up on the dayside (left). These field lines are pushed towards the nightside (right), where they subsequently reconnect. The energy released in the magnetic reconnection accelerates electrons back towards the poles along the field line highlighted in red, where they reflect and power ECM emission in a similar manner to that described for the left panel. For clarity, the emission cone is only shown for the northern hemisphere in both cases.</a:t>
            </a:r>
          </a:p>
        </p:txBody>
      </p:sp>
      <p:sp>
        <p:nvSpPr>
          <p:cNvPr id="9" name="TextBox 8">
            <a:extLst>
              <a:ext uri="{FF2B5EF4-FFF2-40B4-BE49-F238E27FC236}">
                <a16:creationId xmlns:a16="http://schemas.microsoft.com/office/drawing/2014/main" id="{AB7031D5-FE25-E76D-CC35-F9B05984E8B3}"/>
              </a:ext>
            </a:extLst>
          </p:cNvPr>
          <p:cNvSpPr txBox="1"/>
          <p:nvPr/>
        </p:nvSpPr>
        <p:spPr>
          <a:xfrm>
            <a:off x="-41169" y="888587"/>
            <a:ext cx="3624158" cy="1569660"/>
          </a:xfrm>
          <a:prstGeom prst="rect">
            <a:avLst/>
          </a:prstGeom>
          <a:noFill/>
        </p:spPr>
        <p:txBody>
          <a:bodyPr wrap="square">
            <a:spAutoFit/>
          </a:bodyPr>
          <a:lstStyle/>
          <a:p>
            <a:pPr lvl="0"/>
            <a:r>
              <a:rPr lang="en-US" sz="1200" b="1" dirty="0"/>
              <a:t>Solar Bursts:</a:t>
            </a:r>
          </a:p>
          <a:p>
            <a:pPr lvl="1"/>
            <a:r>
              <a:rPr lang="en-US" sz="1200" b="1" dirty="0"/>
              <a:t>Type II Bursts</a:t>
            </a:r>
            <a:r>
              <a:rPr lang="en-US" sz="1200" dirty="0"/>
              <a:t> (minutes to hours) are associated with electrons accelerated by </a:t>
            </a:r>
            <a:r>
              <a:rPr lang="en-US" sz="1200" b="1" dirty="0"/>
              <a:t>CME shocks</a:t>
            </a:r>
            <a:r>
              <a:rPr lang="en-US" sz="1200" dirty="0"/>
              <a:t>. Detecting these in exoplanetary systems is the best way to characterize CMEs.</a:t>
            </a:r>
          </a:p>
          <a:p>
            <a:pPr lvl="1"/>
            <a:r>
              <a:rPr lang="en-US" sz="1200" b="1" dirty="0"/>
              <a:t>Type III Bursts</a:t>
            </a:r>
            <a:r>
              <a:rPr lang="en-US" sz="1200" dirty="0"/>
              <a:t> (short, seconds) are associated with electron beams from magnetic reconnection events.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6184" y="-69147"/>
            <a:ext cx="8229600" cy="857250"/>
          </a:xfrm>
        </p:spPr>
        <p:txBody>
          <a:bodyPr>
            <a:normAutofit/>
          </a:bodyPr>
          <a:lstStyle/>
          <a:p>
            <a:pPr marL="0" lvl="0" indent="0">
              <a:buNone/>
            </a:pPr>
            <a:r>
              <a:rPr dirty="0"/>
              <a:t>3. Observational Advances &amp; Key</a:t>
            </a:r>
          </a:p>
        </p:txBody>
      </p:sp>
      <p:sp>
        <p:nvSpPr>
          <p:cNvPr id="3" name="Content Placeholder 2"/>
          <p:cNvSpPr>
            <a:spLocks noGrp="1"/>
          </p:cNvSpPr>
          <p:nvPr>
            <p:ph idx="1"/>
          </p:nvPr>
        </p:nvSpPr>
        <p:spPr>
          <a:xfrm>
            <a:off x="0" y="671370"/>
            <a:ext cx="4647501" cy="4277860"/>
          </a:xfrm>
        </p:spPr>
        <p:txBody>
          <a:bodyPr>
            <a:normAutofit/>
          </a:bodyPr>
          <a:lstStyle/>
          <a:p>
            <a:pPr marL="0" lvl="0" indent="0">
              <a:spcBef>
                <a:spcPts val="3000"/>
              </a:spcBef>
              <a:buNone/>
            </a:pPr>
            <a:r>
              <a:rPr sz="1200" b="1" dirty="0"/>
              <a:t>A. Star-Planet Interactions (SPI)</a:t>
            </a:r>
          </a:p>
          <a:p>
            <a:pPr lvl="0"/>
            <a:r>
              <a:rPr sz="1200" b="1" dirty="0"/>
              <a:t>Concept:</a:t>
            </a:r>
            <a:r>
              <a:rPr sz="1200" dirty="0"/>
              <a:t> When a close-in planet orbits within the star’s magnetosphere, the planetary and stellar magnetic fields can connect and accelerate electrons toward the stellar/planetary poles.</a:t>
            </a:r>
          </a:p>
          <a:p>
            <a:pPr lvl="0"/>
            <a:r>
              <a:rPr sz="1200" b="1" dirty="0"/>
              <a:t>Signature:</a:t>
            </a:r>
            <a:r>
              <a:rPr sz="1200" dirty="0"/>
              <a:t> This magnetic connection is predicted to generate bright, </a:t>
            </a:r>
            <a:r>
              <a:rPr sz="1200" b="1" dirty="0"/>
              <a:t>coherent radio bursts</a:t>
            </a:r>
            <a:r>
              <a:rPr sz="1200" dirty="0"/>
              <a:t> that are modulated (or synchronized) with the planet’s orbital period.</a:t>
            </a:r>
          </a:p>
          <a:p>
            <a:pPr marL="0" lvl="0" indent="0">
              <a:spcBef>
                <a:spcPts val="3000"/>
              </a:spcBef>
              <a:buNone/>
            </a:pPr>
            <a:r>
              <a:rPr sz="1200" b="1" dirty="0"/>
              <a:t>B. Direct Exoplanet Magnetosphere </a:t>
            </a:r>
            <a:r>
              <a:rPr lang="en-US" sz="1200" b="1" dirty="0"/>
              <a:t>Radio </a:t>
            </a:r>
            <a:r>
              <a:rPr sz="1200" b="1" dirty="0"/>
              <a:t>Detection</a:t>
            </a:r>
          </a:p>
          <a:p>
            <a:pPr lvl="0"/>
            <a:r>
              <a:rPr sz="1200" b="1" dirty="0"/>
              <a:t>Significance:</a:t>
            </a:r>
            <a:r>
              <a:rPr sz="1200" dirty="0"/>
              <a:t> Detecting a planet’s magnetic field</a:t>
            </a:r>
          </a:p>
        </p:txBody>
      </p:sp>
      <p:pic>
        <p:nvPicPr>
          <p:cNvPr id="4" name="Picture 3">
            <a:extLst>
              <a:ext uri="{FF2B5EF4-FFF2-40B4-BE49-F238E27FC236}">
                <a16:creationId xmlns:a16="http://schemas.microsoft.com/office/drawing/2014/main" id="{26F7CE6D-DCA3-AC30-C094-622A5CC21B47}"/>
              </a:ext>
            </a:extLst>
          </p:cNvPr>
          <p:cNvPicPr>
            <a:picLocks noChangeAspect="1"/>
          </p:cNvPicPr>
          <p:nvPr/>
        </p:nvPicPr>
        <p:blipFill>
          <a:blip r:embed="rId2"/>
          <a:stretch>
            <a:fillRect/>
          </a:stretch>
        </p:blipFill>
        <p:spPr>
          <a:xfrm>
            <a:off x="4496500" y="3735758"/>
            <a:ext cx="4647500" cy="1334621"/>
          </a:xfrm>
          <a:prstGeom prst="rect">
            <a:avLst/>
          </a:prstGeom>
        </p:spPr>
      </p:pic>
      <p:sp>
        <p:nvSpPr>
          <p:cNvPr id="6" name="TextBox 5">
            <a:extLst>
              <a:ext uri="{FF2B5EF4-FFF2-40B4-BE49-F238E27FC236}">
                <a16:creationId xmlns:a16="http://schemas.microsoft.com/office/drawing/2014/main" id="{92B47E61-B91A-6A40-D36B-12FFEEADFDF7}"/>
              </a:ext>
            </a:extLst>
          </p:cNvPr>
          <p:cNvSpPr txBox="1"/>
          <p:nvPr/>
        </p:nvSpPr>
        <p:spPr>
          <a:xfrm>
            <a:off x="-75500" y="3710572"/>
            <a:ext cx="4647500" cy="1384995"/>
          </a:xfrm>
          <a:prstGeom prst="rect">
            <a:avLst/>
          </a:prstGeom>
          <a:noFill/>
        </p:spPr>
        <p:txBody>
          <a:bodyPr wrap="square">
            <a:spAutoFit/>
          </a:bodyPr>
          <a:lstStyle/>
          <a:p>
            <a:pPr marL="0" lvl="0" indent="0">
              <a:spcBef>
                <a:spcPts val="3000"/>
              </a:spcBef>
              <a:buNone/>
            </a:pPr>
            <a:r>
              <a:rPr lang="en-US" sz="1400" b="1" dirty="0"/>
              <a:t>C. Low-Mass Stars and Brown Dwarfs, Ultracool dwarfs (UCDs)</a:t>
            </a:r>
          </a:p>
          <a:p>
            <a:pPr marL="0" lvl="0" indent="0">
              <a:buNone/>
            </a:pPr>
            <a:r>
              <a:rPr lang="en-US" sz="1400" dirty="0"/>
              <a:t>Since UCDs and giant exoplanets share a similar mass, radius, and dynamo mechanism (fully convective), the radio emission from the most massive exoplanets is expected to be governed by the same physics seen in UCDs.</a:t>
            </a:r>
          </a:p>
        </p:txBody>
      </p:sp>
      <p:pic>
        <p:nvPicPr>
          <p:cNvPr id="1026" name="Picture 2" descr="figure 1">
            <a:extLst>
              <a:ext uri="{FF2B5EF4-FFF2-40B4-BE49-F238E27FC236}">
                <a16:creationId xmlns:a16="http://schemas.microsoft.com/office/drawing/2014/main" id="{EC7949C6-5EF9-FE6A-75E1-20A11AA64B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3819" y="626681"/>
            <a:ext cx="4647500" cy="293755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3193511-A600-2221-D4AF-D2912983ABFB}"/>
              </a:ext>
            </a:extLst>
          </p:cNvPr>
          <p:cNvSpPr txBox="1"/>
          <p:nvPr/>
        </p:nvSpPr>
        <p:spPr>
          <a:xfrm>
            <a:off x="9144000" y="626681"/>
            <a:ext cx="5209308" cy="2585323"/>
          </a:xfrm>
          <a:prstGeom prst="rect">
            <a:avLst/>
          </a:prstGeom>
          <a:noFill/>
        </p:spPr>
        <p:txBody>
          <a:bodyPr wrap="square">
            <a:spAutoFit/>
          </a:bodyPr>
          <a:lstStyle/>
          <a:p>
            <a:r>
              <a:rPr lang="en-US" b="1" i="0" dirty="0">
                <a:solidFill>
                  <a:srgbClr val="222222"/>
                </a:solidFill>
                <a:effectLst/>
                <a:latin typeface="Harding"/>
              </a:rPr>
              <a:t>a</a:t>
            </a:r>
            <a:r>
              <a:rPr lang="en-US" b="0" i="0" dirty="0">
                <a:solidFill>
                  <a:srgbClr val="222222"/>
                </a:solidFill>
                <a:effectLst/>
                <a:latin typeface="Harding"/>
              </a:rPr>
              <a:t>, Balmer line emission extracted from spectra detected with the Hale telescope. </a:t>
            </a:r>
            <a:r>
              <a:rPr lang="en-US" b="1" i="0" dirty="0">
                <a:solidFill>
                  <a:srgbClr val="222222"/>
                </a:solidFill>
                <a:effectLst/>
                <a:latin typeface="Harding"/>
              </a:rPr>
              <a:t>b</a:t>
            </a:r>
            <a:r>
              <a:rPr lang="en-US" b="0" i="0" dirty="0">
                <a:solidFill>
                  <a:srgbClr val="222222"/>
                </a:solidFill>
                <a:effectLst/>
                <a:latin typeface="Harding"/>
              </a:rPr>
              <a:t>, Dynamic spectra of the right circularly polarized radio emission detected from LSR J1835 + 3259 with the VLA, with the </a:t>
            </a:r>
            <a:r>
              <a:rPr lang="en-US" b="0" i="1" dirty="0">
                <a:solidFill>
                  <a:srgbClr val="222222"/>
                </a:solidFill>
                <a:effectLst/>
                <a:latin typeface="Harding"/>
              </a:rPr>
              <a:t>y</a:t>
            </a:r>
            <a:r>
              <a:rPr lang="en-US" b="0" i="0" dirty="0">
                <a:solidFill>
                  <a:srgbClr val="222222"/>
                </a:solidFill>
                <a:effectLst/>
                <a:latin typeface="Harding"/>
              </a:rPr>
              <a:t> axis truncated to remove the large gap between observing bands (see Methods for details). The offset in phase of the radio features relative to the optical peak can be accounted for by the complex beaming of the radio emission. </a:t>
            </a:r>
            <a:r>
              <a:rPr lang="en-US" b="0" i="0" cap="all" dirty="0" err="1">
                <a:solidFill>
                  <a:srgbClr val="222222"/>
                </a:solidFill>
                <a:effectLst/>
                <a:latin typeface="Harding"/>
              </a:rPr>
              <a:t>hjd</a:t>
            </a:r>
            <a:r>
              <a:rPr lang="en-US" b="0" i="0" dirty="0">
                <a:solidFill>
                  <a:srgbClr val="222222"/>
                </a:solidFill>
                <a:effectLst/>
                <a:latin typeface="Harding"/>
              </a:rPr>
              <a:t>, heliocentric Julian day.</a:t>
            </a:r>
            <a:endParaRPr lang="en-US" dirty="0"/>
          </a:p>
        </p:txBody>
      </p:sp>
      <p:pic>
        <p:nvPicPr>
          <p:cNvPr id="1028" name="Picture 4" descr="Figure 1. Refer to the following caption and surrounding text.">
            <a:extLst>
              <a:ext uri="{FF2B5EF4-FFF2-40B4-BE49-F238E27FC236}">
                <a16:creationId xmlns:a16="http://schemas.microsoft.com/office/drawing/2014/main" id="{BDAEAD5B-AE8F-96CB-D75B-1845467802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82581" y="0"/>
            <a:ext cx="3009900"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9387" y="0"/>
            <a:ext cx="8229600" cy="857250"/>
          </a:xfrm>
        </p:spPr>
        <p:txBody>
          <a:bodyPr/>
          <a:lstStyle/>
          <a:p>
            <a:pPr marL="0" lvl="0" indent="0">
              <a:buNone/>
            </a:pPr>
            <a:r>
              <a:rPr dirty="0"/>
              <a:t>4. Discussion &amp; Future Outlook</a:t>
            </a:r>
          </a:p>
        </p:txBody>
      </p:sp>
      <p:sp>
        <p:nvSpPr>
          <p:cNvPr id="3" name="Content Placeholder 2"/>
          <p:cNvSpPr>
            <a:spLocks noGrp="1"/>
          </p:cNvSpPr>
          <p:nvPr>
            <p:ph idx="1"/>
          </p:nvPr>
        </p:nvSpPr>
        <p:spPr>
          <a:xfrm>
            <a:off x="457200" y="956344"/>
            <a:ext cx="8229600" cy="4261607"/>
          </a:xfrm>
        </p:spPr>
        <p:txBody>
          <a:bodyPr>
            <a:normAutofit fontScale="62500" lnSpcReduction="20000"/>
          </a:bodyPr>
          <a:lstStyle/>
          <a:p>
            <a:pPr marL="0" lvl="0" indent="0">
              <a:spcBef>
                <a:spcPts val="3000"/>
              </a:spcBef>
              <a:buNone/>
            </a:pPr>
            <a:r>
              <a:rPr b="1" dirty="0"/>
              <a:t>A. Implications and Unanswered Questions</a:t>
            </a:r>
          </a:p>
          <a:p>
            <a:pPr lvl="0"/>
            <a:r>
              <a:rPr b="1" dirty="0"/>
              <a:t>Space Weather:</a:t>
            </a:r>
            <a:r>
              <a:rPr dirty="0"/>
              <a:t> Time-resolved radio dynamic spectra offer the best way to detect and characterize </a:t>
            </a:r>
            <a:r>
              <a:rPr b="1" dirty="0"/>
              <a:t>CMEs</a:t>
            </a:r>
            <a:r>
              <a:rPr dirty="0"/>
              <a:t> from stars other than the Sun, which directly impacts exoplanet atmospheric escape.</a:t>
            </a:r>
          </a:p>
          <a:p>
            <a:pPr lvl="0"/>
            <a:r>
              <a:rPr b="1" dirty="0"/>
              <a:t>Exoplanet Characterization:</a:t>
            </a:r>
            <a:r>
              <a:rPr dirty="0"/>
              <a:t> Radio detections of SPI and planetary aurorae offer the potential to </a:t>
            </a:r>
            <a:r>
              <a:rPr i="1" dirty="0"/>
              <a:t>measure the magnetic field strength of exoplanets</a:t>
            </a:r>
            <a:r>
              <a:rPr dirty="0"/>
              <a:t>, a parameter inaccessible by other current methods.</a:t>
            </a:r>
          </a:p>
          <a:p>
            <a:pPr lvl="0"/>
            <a:r>
              <a:rPr b="1" dirty="0"/>
              <a:t>Theory Gaps:</a:t>
            </a:r>
            <a:r>
              <a:rPr dirty="0"/>
              <a:t> There are still outstanding questions in the theory</a:t>
            </a:r>
            <a:r>
              <a:rPr lang="en-US" dirty="0"/>
              <a:t> of magnetohydrodynamics of SPI models. </a:t>
            </a:r>
          </a:p>
          <a:p>
            <a:pPr lvl="0"/>
            <a:endParaRPr lang="en-US" dirty="0"/>
          </a:p>
          <a:p>
            <a:pPr marL="0" lvl="0" indent="0">
              <a:buNone/>
            </a:pPr>
            <a:r>
              <a:rPr dirty="0"/>
              <a:t>The </a:t>
            </a:r>
            <a:r>
              <a:rPr lang="en-US" dirty="0"/>
              <a:t>m</a:t>
            </a:r>
            <a:r>
              <a:rPr dirty="0"/>
              <a:t>aturation of new low-frequency radio instruments and wide-field surveys and future radio facilities (e.g., SKA, LOFAR upgrades) will be essential for moving beyond tentative results to definitive characterization of exoplanet magnetic fields and the surrounding space environment.</a:t>
            </a:r>
          </a:p>
          <a:p>
            <a:pPr marL="0" lvl="0" indent="0">
              <a:buNone/>
            </a:pPr>
            <a:endParaRPr lang="en-US" dirty="0"/>
          </a:p>
          <a:p>
            <a:pPr marL="0" lvl="0" indent="0">
              <a:buNone/>
            </a:pPr>
            <a:r>
              <a:rPr b="1" dirty="0"/>
              <a:t>B. Critical Assessment</a:t>
            </a:r>
            <a:endParaRPr lang="en-US" b="1" dirty="0"/>
          </a:p>
          <a:p>
            <a:pPr marL="0" lvl="0" indent="0">
              <a:buNone/>
            </a:pPr>
            <a:endParaRPr lang="en-US" dirty="0"/>
          </a:p>
          <a:p>
            <a:pPr marL="342900" lvl="0" indent="-342900">
              <a:buAutoNum type="arabicPeriod"/>
            </a:pPr>
            <a:r>
              <a:rPr lang="en-US" b="1" dirty="0"/>
              <a:t>Tentative vs. Confirmed:</a:t>
            </a:r>
            <a:r>
              <a:rPr lang="en-US" dirty="0"/>
              <a:t> The paper relies heavily on “provisional” and “tentative” detections (especially for direct exoplanet emission and CMEs). </a:t>
            </a:r>
          </a:p>
          <a:p>
            <a:pPr marL="342900" lvl="0" indent="-342900">
              <a:buAutoNum type="arabicPeriod"/>
            </a:pPr>
            <a:r>
              <a:rPr b="1" dirty="0"/>
              <a:t>Model Dependency:</a:t>
            </a:r>
            <a:r>
              <a:rPr dirty="0"/>
              <a:t> How robust are the planetary magnetic field estimates derived from the radio observations, given they rely on models and analogies with Jupiter?</a:t>
            </a:r>
          </a:p>
        </p:txBody>
      </p:sp>
      <p:pic>
        <p:nvPicPr>
          <p:cNvPr id="4" name="Picture 3">
            <a:extLst>
              <a:ext uri="{FF2B5EF4-FFF2-40B4-BE49-F238E27FC236}">
                <a16:creationId xmlns:a16="http://schemas.microsoft.com/office/drawing/2014/main" id="{FF82794C-CE7C-D641-D5BD-F0AC97604901}"/>
              </a:ext>
            </a:extLst>
          </p:cNvPr>
          <p:cNvPicPr>
            <a:picLocks noChangeAspect="1"/>
          </p:cNvPicPr>
          <p:nvPr/>
        </p:nvPicPr>
        <p:blipFill>
          <a:blip r:embed="rId2"/>
          <a:stretch>
            <a:fillRect/>
          </a:stretch>
        </p:blipFill>
        <p:spPr>
          <a:xfrm>
            <a:off x="6798541" y="136706"/>
            <a:ext cx="2123787" cy="92372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1691</TotalTime>
  <Words>1415</Words>
  <Application>Microsoft Macintosh PowerPoint</Application>
  <PresentationFormat>On-screen Show (16:9)</PresentationFormat>
  <Paragraphs>68</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Harding</vt:lpstr>
      <vt:lpstr>Arial</vt:lpstr>
      <vt:lpstr>Calibri</vt:lpstr>
      <vt:lpstr>Office Theme</vt:lpstr>
      <vt:lpstr>Radio signatures of star–planet interactions, exoplanets and space weather</vt:lpstr>
      <vt:lpstr>1. Introduction &amp; Motivation</vt:lpstr>
      <vt:lpstr>PowerPoint Presentation</vt:lpstr>
      <vt:lpstr>2. Key Concepts &amp; Mechanisms</vt:lpstr>
      <vt:lpstr>PowerPoint Presentation</vt:lpstr>
      <vt:lpstr>3. Observational Advances &amp; Key</vt:lpstr>
      <vt:lpstr>4. Discussion &amp; Future Outlook</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Radio signatures of star–planet interactions, exoplanets and space weather</dc:title>
  <dc:creator>J. R. Callingham; B. J. S. Pope</dc:creator>
  <cp:keywords/>
  <cp:lastModifiedBy>Zijin Zhang</cp:lastModifiedBy>
  <cp:revision>21</cp:revision>
  <dcterms:created xsi:type="dcterms:W3CDTF">2025-12-03T20:04:08Z</dcterms:created>
  <dcterms:modified xsi:type="dcterms:W3CDTF">2025-12-09T23:03:55Z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quarto-vars">
    <vt:lpwstr/>
  </property>
  <property fmtid="{D5CDD505-2E9C-101B-9397-08002B2CF9AE}" pid="3" name="authors">
    <vt:lpwstr/>
  </property>
  <property fmtid="{D5CDD505-2E9C-101B-9397-08002B2CF9AE}" pid="4" name="biblio-config">
    <vt:lpwstr>True</vt:lpwstr>
  </property>
  <property fmtid="{D5CDD505-2E9C-101B-9397-08002B2CF9AE}" pid="5" name="bibliography">
    <vt:lpwstr/>
  </property>
  <property fmtid="{D5CDD505-2E9C-101B-9397-08002B2CF9AE}" pid="6" name="by-author">
    <vt:lpwstr/>
  </property>
  <property fmtid="{D5CDD505-2E9C-101B-9397-08002B2CF9AE}" pid="7" name="categories">
    <vt:lpwstr/>
  </property>
  <property fmtid="{D5CDD505-2E9C-101B-9397-08002B2CF9AE}" pid="8" name="code-links">
    <vt:lpwstr/>
  </property>
  <property fmtid="{D5CDD505-2E9C-101B-9397-08002B2CF9AE}" pid="9" name="date">
    <vt:lpwstr>2025-12-03</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labels">
    <vt:lpwstr/>
  </property>
  <property fmtid="{D5CDD505-2E9C-101B-9397-08002B2CF9AE}" pid="14" name="toc-title">
    <vt:lpwstr>Table of contents</vt:lpwstr>
  </property>
</Properties>
</file>