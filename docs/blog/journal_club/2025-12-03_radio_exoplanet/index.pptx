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Detecting magnetic activity and space weather using radio astronomy.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Introduction &amp; Motivation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Big Picture</a:t>
            </a:r>
          </a:p>
          <a:p>
            <a:pPr lvl="0"/>
            <a:r>
              <a:rPr b="1"/>
              <a:t>The Problem:</a:t>
            </a:r>
            <a:r>
              <a:rPr/>
              <a:t> Understanding the space environment around exoplanets is crucial for characterizing their potential habitability. This requires measuring </a:t>
            </a:r>
            <a:r>
              <a:rPr b="1"/>
              <a:t>stellar magnetic activity</a:t>
            </a:r>
            <a:r>
              <a:rPr/>
              <a:t> and </a:t>
            </a:r>
            <a:r>
              <a:rPr b="1"/>
              <a:t>space weather events</a:t>
            </a:r>
            <a:r>
              <a:rPr/>
              <a:t> (like CMEs).</a:t>
            </a:r>
          </a:p>
          <a:p>
            <a:pPr lvl="0"/>
            <a:r>
              <a:rPr b="1"/>
              <a:t>The Limitation of Other Wavelengths:</a:t>
            </a:r>
            <a:r>
              <a:rPr/>
              <a:t> X-ray and UV observations tell us about the star’s atmosphere, but radio detections offer a unique, sensitive window onto the star’s </a:t>
            </a:r>
            <a:r>
              <a:rPr i="1"/>
              <a:t>magnetosphere</a:t>
            </a:r>
            <a:r>
              <a:rPr/>
              <a:t> and the </a:t>
            </a:r>
            <a:r>
              <a:rPr b="1"/>
              <a:t>exoplanet’s own magnetic field</a:t>
            </a:r>
            <a:r>
              <a:rPr/>
              <a:t> and its interaction with the star.</a:t>
            </a:r>
          </a:p>
          <a:p>
            <a:pPr lvl="0"/>
            <a:r>
              <a:rPr b="1"/>
              <a:t>The Paper’s Role:</a:t>
            </a:r>
            <a:r>
              <a:rPr/>
              <a:t> This paper is a </a:t>
            </a:r>
            <a:r>
              <a:rPr b="1"/>
              <a:t>primer</a:t>
            </a:r>
            <a:r>
              <a:rPr/>
              <a:t> designed to guide new researchers, detailing the physical mechanisms and recent observational advances in the field.</a:t>
            </a:r>
          </a:p>
          <a:p>
            <a:pPr lvl="0"/>
            <a:r>
              <a:rPr/>
              <a:t>☐ Detection of a CME (too tenuous to detect)</a:t>
            </a:r>
          </a:p>
          <a:p>
            <a:pPr lvl="1"/>
            <a:r>
              <a:rPr/>
              <a:t>radio free–free emission from the ionized coronal winds</a:t>
            </a:r>
          </a:p>
          <a:p>
            <a:pPr lvl="1"/>
            <a:r>
              <a:rPr/>
              <a:t>X-ray emission generated by charge exchange between the ionized wind and interstellar neutrals</a:t>
            </a:r>
          </a:p>
          <a:p>
            <a:pPr lvl="1"/>
            <a:r>
              <a:rPr/>
              <a:t>astrospheric Lyα absorption and absorption from the hydrogen wall</a:t>
            </a:r>
          </a:p>
          <a:p>
            <a:pPr lvl="1"/>
            <a:r>
              <a:rPr/>
              <a:t>bursty, low-frequency radio accompanying the CME</a:t>
            </a:r>
          </a:p>
          <a:p>
            <a:pPr lvl="0"/>
            <a:r>
              <a:rPr/>
              <a:t>☐ Direct measurements of an exoplanet’s magnetic field</a:t>
            </a:r>
          </a:p>
          <a:p>
            <a:pPr lvl="1"/>
            <a:r>
              <a:rPr/>
              <a:t>auroral (radio) emission</a:t>
            </a:r>
          </a:p>
        </p:txBody>
      </p:sp>
      <p:pic>
        <p:nvPicPr>
          <p:cNvPr descr="https://content.cld.iop.org/journals/0004-637X/915/1/37/1/apjabfda5f1_l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95300"/>
            <a:ext cx="5105400" cy="378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Questions</a:t>
            </a:r>
          </a:p>
          <a:p>
            <a:pPr lvl="0" indent="-342900" marL="342900">
              <a:buAutoNum type="arabicPeriod"/>
            </a:pPr>
            <a:r>
              <a:rPr/>
              <a:t>How can radio bursts (like those from the Sun) characterize stellar space weather and detect stellar CMEs?</a:t>
            </a:r>
          </a:p>
          <a:p>
            <a:pPr lvl="0" indent="-342900" marL="342900">
              <a:buAutoNum type="arabicPeriod"/>
            </a:pPr>
            <a:r>
              <a:rPr/>
              <a:t>What is the role of magnetic </a:t>
            </a:r>
            <a:r>
              <a:rPr b="1"/>
              <a:t>Star-Planet Interaction (SPI)</a:t>
            </a:r>
            <a:r>
              <a:rPr/>
              <a:t> in producing observable radio signals?</a:t>
            </a:r>
          </a:p>
          <a:p>
            <a:pPr lvl="0" indent="-342900" marL="342900">
              <a:buAutoNum type="arabicPeriod"/>
            </a:pPr>
            <a:r>
              <a:rPr/>
              <a:t>Can we directly detect the radio emission from an </a:t>
            </a:r>
            <a:r>
              <a:rPr b="1"/>
              <a:t>exoplanetary magnetosphere</a:t>
            </a:r>
            <a:r>
              <a:rPr/>
              <a:t> (like Jupiter’s aurora) and use it to measure the planet’s magnetic field?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Key Concepts &amp; Mechanisms (The “How?”)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Radio Emission Mechanisms</a:t>
            </a:r>
          </a:p>
          <a:p>
            <a:pPr lvl="0" indent="0" marL="0">
              <a:buNone/>
            </a:pPr>
            <a:r>
              <a:rPr/>
              <a:t>The paper differentiates between two main types of radio emission in stellar systems: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Significance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Incoherent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Gyrosynchrotron Emission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Generated by mildly-relativistic electrons spiraling in a magnetic field.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Associated with </a:t>
                      </a:r>
                      <a:r>
                        <a:rPr b="1"/>
                        <a:t>flares</a:t>
                      </a:r>
                      <a:r>
                        <a:rPr/>
                        <a:t> and active regions on the star.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Coherent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Electron Cyclotron Maser Instability (ECMI)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Generated by energetic electrons trapped in a magnetic field. All electrons emit in phase, resulting in </a:t>
                      </a:r>
                      <a:r>
                        <a:rPr i="1"/>
                        <a:t>extremely bright</a:t>
                      </a:r>
                      <a:r>
                        <a:rPr/>
                        <a:t> radiation.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This is the mechanism for </a:t>
                      </a:r>
                      <a:r>
                        <a:rPr b="1"/>
                        <a:t>stellar auroral emission</a:t>
                      </a:r>
                      <a:r>
                        <a:rPr/>
                        <a:t>, </a:t>
                      </a:r>
                      <a:r>
                        <a:rPr b="1"/>
                        <a:t>planetary auroral emission</a:t>
                      </a:r>
                      <a:r>
                        <a:rPr/>
                        <a:t>, and </a:t>
                      </a:r>
                      <a:r>
                        <a:rPr b="1"/>
                        <a:t>Star-Planet Interaction</a:t>
                      </a:r>
                      <a:r>
                        <a:rPr/>
                        <a:t> signatures.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 Solar System Analogues</a:t>
            </a:r>
          </a:p>
          <a:p>
            <a:pPr lvl="0" indent="0" marL="0">
              <a:buNone/>
            </a:pPr>
            <a:r>
              <a:rPr/>
              <a:t>The paper emphasizes using the Sun and Jupiter as templates:</a:t>
            </a:r>
          </a:p>
          <a:p>
            <a:pPr lvl="0"/>
            <a:r>
              <a:rPr b="1"/>
              <a:t>Solar Bursts:</a:t>
            </a:r>
          </a:p>
          <a:p>
            <a:pPr lvl="1"/>
            <a:r>
              <a:rPr b="1"/>
              <a:t>Type II Bursts</a:t>
            </a:r>
            <a:r>
              <a:rPr/>
              <a:t> (minutes to hours) are associated with electrons accelerated by </a:t>
            </a:r>
            <a:r>
              <a:rPr b="1"/>
              <a:t>CME shocks</a:t>
            </a:r>
            <a:r>
              <a:rPr/>
              <a:t>. Detecting these in exoplanetary systems is the best way to characterize CMEs.</a:t>
            </a:r>
          </a:p>
          <a:p>
            <a:pPr lvl="1"/>
            <a:r>
              <a:rPr b="1"/>
              <a:t>Type III Bursts</a:t>
            </a:r>
            <a:r>
              <a:rPr/>
              <a:t> (short, seconds) are associated with electron beams from magnetic reconnection events.</a:t>
            </a:r>
          </a:p>
          <a:p>
            <a:pPr lvl="0"/>
            <a:r>
              <a:rPr b="1"/>
              <a:t>Jupiter’s Aurorae:</a:t>
            </a:r>
            <a:r>
              <a:rPr/>
              <a:t> The powerful, highly directional radio emission from Jupiter’s magnetic poles is the direct analogue for potential </a:t>
            </a:r>
            <a:r>
              <a:rPr b="1"/>
              <a:t>exoplanet auroral radio emission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Observational Advances &amp; Key Results (The “What?”)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 the areas where low-frequency radio instruments have recently pushed the boundaries.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A. Star-Planet Interactions (SPI)</a:t>
            </a:r>
          </a:p>
          <a:p>
            <a:pPr lvl="0"/>
            <a:r>
              <a:rPr b="1"/>
              <a:t>Concept:</a:t>
            </a:r>
            <a:r>
              <a:rPr/>
              <a:t> When a close-in planet (like a Hot Jupiter) orbits within the star’s magnetosphere, the planetary and stellar magnetic fields can connect and accelerate electrons toward the stellar/planetary poles.</a:t>
            </a:r>
          </a:p>
          <a:p>
            <a:pPr lvl="0"/>
            <a:r>
              <a:rPr b="1"/>
              <a:t>Signature:</a:t>
            </a:r>
            <a:r>
              <a:rPr/>
              <a:t> This magnetic connection is predicted to generate bright, </a:t>
            </a:r>
            <a:r>
              <a:rPr b="1"/>
              <a:t>coherent radio bursts</a:t>
            </a:r>
            <a:r>
              <a:rPr/>
              <a:t> that are modulated (or synchronized) with the planet’s orbital period.</a:t>
            </a:r>
          </a:p>
          <a:p>
            <a:pPr lvl="0"/>
            <a:r>
              <a:rPr b="1"/>
              <a:t>Status:</a:t>
            </a:r>
            <a:r>
              <a:rPr/>
              <a:t> The paper reviews </a:t>
            </a:r>
            <a:r>
              <a:rPr b="1"/>
              <a:t>recent provisional detections</a:t>
            </a:r>
            <a:r>
              <a:rPr/>
              <a:t> of these SPI-induced radio bursts, highlighting their potential for characterizing exoplanet systems and their magnetic fields.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B. Direct Exoplanet Magnetosphere Detection</a:t>
            </a:r>
          </a:p>
          <a:p>
            <a:pPr lvl="0"/>
            <a:r>
              <a:rPr b="1"/>
              <a:t>Goal:</a:t>
            </a:r>
            <a:r>
              <a:rPr/>
              <a:t> To detect the radio aurorae generated by the exoplanet itself (ECMI emission).</a:t>
            </a:r>
          </a:p>
          <a:p>
            <a:pPr lvl="0"/>
            <a:r>
              <a:rPr b="1"/>
              <a:t>Significance:</a:t>
            </a:r>
            <a:r>
              <a:rPr/>
              <a:t> Detecting a planet’s magnetic field is crucial for determining its ability to shield its atmosphere from harsh stellar wind—a key factor for long-term habitability.</a:t>
            </a:r>
          </a:p>
          <a:p>
            <a:pPr lvl="0"/>
            <a:r>
              <a:rPr b="1"/>
              <a:t>Status:</a:t>
            </a:r>
            <a:r>
              <a:rPr/>
              <a:t> There are </a:t>
            </a:r>
            <a:r>
              <a:rPr b="1"/>
              <a:t>early tentative results</a:t>
            </a:r>
            <a:r>
              <a:rPr/>
              <a:t> hinting at the direct detection of exoplanetary magnetospheres.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C. Low-Mass Stars and Brown Dwarfs</a:t>
            </a:r>
          </a:p>
          <a:p>
            <a:pPr lvl="0"/>
            <a:r>
              <a:rPr b="1"/>
              <a:t>Low-Mass Stars:</a:t>
            </a:r>
            <a:r>
              <a:rPr/>
              <a:t> Advances have been driven by low-frequency radio instruments observing auroral emissions from radio-bright low-mass stars.</a:t>
            </a:r>
          </a:p>
          <a:p>
            <a:pPr lvl="0"/>
            <a:r>
              <a:rPr b="1"/>
              <a:t>Brown Dwarfs:</a:t>
            </a:r>
            <a:r>
              <a:rPr/>
              <a:t> These objects often possess very strong magnetospheres and are naturally radio-bright, making them easier targets for detailed study using current instruments, which helps validate the physical models used for exoplanets.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Discussion &amp; Future Outlook (The “So What?”)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Implications and Unanswered Questions</a:t>
            </a:r>
          </a:p>
          <a:p>
            <a:pPr lvl="0"/>
            <a:r>
              <a:rPr b="1"/>
              <a:t>Space Weather:</a:t>
            </a:r>
            <a:r>
              <a:rPr/>
              <a:t> Time-resolved radio dynamic spectra offer the best way to detect and characterize </a:t>
            </a:r>
            <a:r>
              <a:rPr b="1"/>
              <a:t>CMEs</a:t>
            </a:r>
            <a:r>
              <a:rPr/>
              <a:t> from stars other than the Sun, which directly impacts exoplanet atmospheric escape.</a:t>
            </a:r>
          </a:p>
          <a:p>
            <a:pPr lvl="0"/>
            <a:r>
              <a:rPr b="1"/>
              <a:t>Exoplanet Characterization:</a:t>
            </a:r>
            <a:r>
              <a:rPr/>
              <a:t> Radio detections of SPI and planetary aurorae offer the potential to </a:t>
            </a:r>
            <a:r>
              <a:rPr i="1"/>
              <a:t>measure the magnetic field strength of exoplanets</a:t>
            </a:r>
            <a:r>
              <a:rPr/>
              <a:t>, a parameter inaccessible by other current methods.</a:t>
            </a:r>
          </a:p>
          <a:p>
            <a:pPr lvl="0"/>
            <a:r>
              <a:rPr b="1"/>
              <a:t>Theory Gaps:</a:t>
            </a:r>
            <a:r>
              <a:rPr/>
              <a:t> There are still outstanding questions in the theory of stellar, SPI, and exoplanet radio emission that require consolidation.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B. Future Facilities</a:t>
            </a:r>
          </a:p>
          <a:p>
            <a:pPr lvl="0" indent="0" marL="0">
              <a:buNone/>
            </a:pPr>
            <a:r>
              <a:rPr/>
              <a:t>The paper emphasizes that this field is rapidly advancing due to the maturation of new low-frequency radio instruments and wide-field surveys. * </a:t>
            </a:r>
            <a:r>
              <a:rPr b="1"/>
              <a:t>Future radio facilities</a:t>
            </a:r>
            <a:r>
              <a:rPr/>
              <a:t> (e.g., SKA, LOFAR upgrades) will be essential for moving beyond tentative results to definitive characterization of exoplanet magnetic fields and the surrounding space environment.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C. Critical Assessment (Journal Club Discussion Points)</a:t>
            </a:r>
          </a:p>
          <a:p>
            <a:pPr lvl="0" indent="-342900" marL="342900">
              <a:buAutoNum type="arabicPeriod"/>
            </a:pPr>
            <a:r>
              <a:rPr b="1"/>
              <a:t>Tentative vs. Confirmed:</a:t>
            </a:r>
            <a:r>
              <a:rPr/>
              <a:t> The paper relies heavily on “provisional” and “tentative” detections (especially for direct exoplanet emission and CMEs). Does the community need to agree on a stricter detection criterion?</a:t>
            </a:r>
          </a:p>
          <a:p>
            <a:pPr lvl="0" indent="-342900" marL="342900">
              <a:buAutoNum type="arabicPeriod"/>
            </a:pPr>
            <a:r>
              <a:rPr b="1"/>
              <a:t>Model Dependency:</a:t>
            </a:r>
            <a:r>
              <a:rPr/>
              <a:t> How robust are the planetary magnetic field estimates derived from the radio observations, given they rely on models and analogies with Jupiter?</a:t>
            </a:r>
          </a:p>
          <a:p>
            <a:pPr lvl="0" indent="-342900" marL="342900">
              <a:buAutoNum type="arabicPeriod"/>
            </a:pPr>
            <a:r>
              <a:rPr b="1"/>
              <a:t>Observational Bias:</a:t>
            </a:r>
            <a:r>
              <a:rPr/>
              <a:t> Is the field currently biased toward highly magnetic, active stars and close-in (Hot Jupiter) systems? How can we expand the target list?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2026-01-12T17:31:42Z</dcterms:created>
  <dcterms:modified xsi:type="dcterms:W3CDTF">2026-01-12T17:31:42Z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