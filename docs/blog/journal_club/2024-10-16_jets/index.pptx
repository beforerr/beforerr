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6" Type="http://schemas.openxmlformats.org/officeDocument/2006/relationships/viewProps" Target="viewProps.xml" /><Relationship Id="rId15" Type="http://schemas.openxmlformats.org/officeDocument/2006/relationships/presProps" Target="presProps.xml" /><Relationship Id="rId1" Type="http://schemas.openxmlformats.org/officeDocument/2006/relationships/slideMaster" Target="slideMasters/slideMaster1.xml" /><Relationship Id="rId18" Type="http://schemas.openxmlformats.org/officeDocument/2006/relationships/tableStyles" Target="tableStyles.xml" /><Relationship Id="rId1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29/2021GL093173" TargetMode="External" /><Relationship Id="rId3" Type="http://schemas.openxmlformats.org/officeDocument/2006/relationships/hyperlink" Target="https://doi.org/10.1007/s11214-018-0516-3"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Magnetosheath jets at Jupiter and across the solar system</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Yufei Zhou</a:t>
            </a:r>
          </a:p>
        </p:txBody>
      </p:sp>
      <p:sp>
        <p:nvSpPr>
          <p:cNvPr id="4" name="Date Placeholder 3"/>
          <p:cNvSpPr>
            <a:spLocks noGrp="1"/>
          </p:cNvSpPr>
          <p:nvPr>
            <p:ph idx="10" sz="half" type="dt"/>
          </p:nvPr>
        </p:nvSpPr>
        <p:spPr/>
        <p:txBody>
          <a:bodyPr/>
          <a:lstStyle/>
          <a:p>
            <a:pPr lvl="0" indent="0" marL="0">
              <a:buNone/>
            </a:pPr>
            <a:r>
              <a:rPr/>
              <a:t>2026-01-08</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Reported anti-sunward and sunward jets in the Jovian magnetosheath.</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Introduction - What are magnetosheath jets?</a:t>
            </a:r>
          </a:p>
        </p:txBody>
      </p:sp>
      <p:sp>
        <p:nvSpPr>
          <p:cNvPr id="4" name="Text Placeholder 3"/>
          <p:cNvSpPr>
            <a:spLocks noGrp="1"/>
          </p:cNvSpPr>
          <p:nvPr>
            <p:ph idx="2" sz="half" type="body"/>
          </p:nvPr>
        </p:nvSpPr>
        <p:spPr/>
        <p:txBody>
          <a:bodyPr/>
          <a:lstStyle/>
          <a:p>
            <a:pPr lvl="0" indent="0" marL="0">
              <a:buNone/>
            </a:pPr>
            <a:r>
              <a:rPr/>
              <a:t>Large amplitude, yet spatially localized, transient increases in dynamic pressure, known as “magnetosheath jets” or “plasmoids”.</a:t>
            </a:r>
          </a:p>
        </p:txBody>
      </p:sp>
      <p:pic>
        <p:nvPicPr>
          <p:cNvPr descr="images/paste-7.png" id="0" name="Picture 1"/>
          <p:cNvPicPr>
            <a:picLocks noGrp="1" noChangeAspect="1"/>
          </p:cNvPicPr>
          <p:nvPr/>
        </p:nvPicPr>
        <p:blipFill>
          <a:blip r:embed="rId2"/>
          <a:stretch>
            <a:fillRect/>
          </a:stretch>
        </p:blipFill>
        <p:spPr bwMode="auto">
          <a:xfrm>
            <a:off x="3568700" y="241300"/>
            <a:ext cx="5105400" cy="43053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Plaschke et al. (2018)</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Jupyter?</a:t>
            </a:r>
          </a:p>
        </p:txBody>
      </p:sp>
      <p:sp>
        <p:nvSpPr>
          <p:cNvPr id="3" name="Content Placeholder 2"/>
          <p:cNvSpPr>
            <a:spLocks noGrp="1"/>
          </p:cNvSpPr>
          <p:nvPr>
            <p:ph idx="1"/>
          </p:nvPr>
        </p:nvSpPr>
        <p:spPr/>
        <p:txBody>
          <a:bodyPr/>
          <a:lstStyle/>
          <a:p>
            <a:pPr lvl="0" indent="0" marL="0">
              <a:buNone/>
            </a:pPr>
            <a:r>
              <a:rPr/>
              <a:t>Most jets are observed in quasi-parallel shocked magnetosheath (presence of foreshock):</a:t>
            </a:r>
          </a:p>
          <a:p>
            <a:pPr lvl="0"/>
            <a:r>
              <a:rPr/>
              <a:t>Formation mechanism: shock rippling (97%), shock reformation, and shock interaction with rotational discontinuities</a:t>
            </a:r>
          </a:p>
          <a:p>
            <a:pPr lvl="0" indent="0" marL="0">
              <a:buNone/>
            </a:pPr>
            <a:r>
              <a:rPr/>
              <a:t>Quasiperpendicular shocks are less favorable</a:t>
            </a:r>
          </a:p>
          <a:p>
            <a:pPr lvl="0"/>
            <a:r>
              <a:rPr/>
              <a:t>Formation mechanism: shock interaction with discontinuities; mirror modes…</a:t>
            </a:r>
          </a:p>
          <a:p>
            <a:pPr lvl="0"/>
            <a:r>
              <a:rPr/>
              <a:t>Magnetic flux tubes that are embedded in the Qper magnetosheath but are connected to the Qpar section of the bow-shock (Kajdič et al. 2021)</a:t>
            </a:r>
          </a:p>
          <a:p>
            <a:pPr lvl="0" indent="0" marL="0">
              <a:buNone/>
            </a:pPr>
            <a:r>
              <a:rPr/>
              <a:t>Subsolar bow shocks of outer planets are more frequently quasi-perpendicular (due to the Parker spiral)</a:t>
            </a:r>
          </a:p>
          <a:p>
            <a:pPr lvl="0" indent="0" marL="0">
              <a:buNone/>
            </a:pPr>
            <a:r>
              <a:rPr/>
              <a:t>Parametric variation of jets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Results</a:t>
            </a:r>
          </a:p>
        </p:txBody>
      </p:sp>
      <p:sp>
        <p:nvSpPr>
          <p:cNvPr id="4" name="Text Placeholder 3"/>
          <p:cNvSpPr>
            <a:spLocks noGrp="1"/>
          </p:cNvSpPr>
          <p:nvPr>
            <p:ph idx="2" sz="half" type="body"/>
          </p:nvPr>
        </p:nvSpPr>
        <p:spPr/>
        <p:txBody>
          <a:bodyPr/>
          <a:lstStyle/>
          <a:p>
            <a:pPr lvl="0" indent="0" marL="0">
              <a:buNone/>
            </a:pPr>
            <a:r>
              <a:rPr/>
              <a:t>Jupiter-Sun-Orbital (JSO) Cartesian and spherical coordinates. In this coordinate system, the x-axis points from Jupiter to the Sun, the z-axis is aligned with vJO × x^ (where vJO denotes the orbital velocity of Jupiter)</a:t>
            </a:r>
          </a:p>
          <a:p>
            <a:pPr lvl="0" indent="0" marL="0">
              <a:buNone/>
            </a:pPr>
            <a:r>
              <a:rPr/>
              <a:t>Voyager 2 observation</a:t>
            </a:r>
          </a:p>
        </p:txBody>
      </p:sp>
      <p:pic>
        <p:nvPicPr>
          <p:cNvPr descr="images/paste-1.png" id="0" name="Picture 1"/>
          <p:cNvPicPr>
            <a:picLocks noGrp="1" noChangeAspect="1"/>
          </p:cNvPicPr>
          <p:nvPr/>
        </p:nvPicPr>
        <p:blipFill>
          <a:blip r:embed="rId2"/>
          <a:stretch>
            <a:fillRect/>
          </a:stretch>
        </p:blipFill>
        <p:spPr bwMode="auto">
          <a:xfrm>
            <a:off x="3746500" y="203200"/>
            <a:ext cx="4749800" cy="43815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Significant variations, indicating quasi-parallel magnetosheath conditions.</a:t>
            </a:r>
          </a:p>
          <a:p>
            <a:pPr lvl="0" indent="0" marL="0">
              <a:buNone/>
            </a:pPr>
            <a:r>
              <a:rPr/>
              <a:t>Magnetic field standard deviation and high energy ion flux are good local indicators to distinguish between quasi-parallel and quasi-perpendicular magnetosheath.</a:t>
            </a:r>
          </a:p>
          <a:p>
            <a:pPr lvl="0" indent="0" marL="0">
              <a:buNone/>
            </a:pPr>
            <a:r>
              <a:rPr/>
              <a:t>After the third jet, quasi-perpendicular magnetosheath [θ = 90∘, φ = 245∘]</a:t>
            </a:r>
          </a:p>
        </p:txBody>
      </p:sp>
      <p:pic>
        <p:nvPicPr>
          <p:cNvPr descr="images/paste-6.png" id="0" name="Picture 1"/>
          <p:cNvPicPr>
            <a:picLocks noGrp="1" noChangeAspect="1"/>
          </p:cNvPicPr>
          <p:nvPr/>
        </p:nvPicPr>
        <p:blipFill>
          <a:blip r:embed="rId2"/>
          <a:stretch>
            <a:fillRect/>
          </a:stretch>
        </p:blipFill>
        <p:spPr bwMode="auto">
          <a:xfrm>
            <a:off x="3568700" y="1104900"/>
            <a:ext cx="5105400" cy="25781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Sunward jet</a:t>
            </a:r>
          </a:p>
        </p:txBody>
      </p:sp>
      <p:pic>
        <p:nvPicPr>
          <p:cNvPr descr="images/paste-5.png" id="0" name="Picture 1"/>
          <p:cNvPicPr>
            <a:picLocks noGrp="1" noChangeAspect="1"/>
          </p:cNvPicPr>
          <p:nvPr/>
        </p:nvPicPr>
        <p:blipFill>
          <a:blip r:embed="rId2"/>
          <a:stretch>
            <a:fillRect/>
          </a:stretch>
        </p:blipFill>
        <p:spPr bwMode="auto">
          <a:xfrm>
            <a:off x="3860800" y="1193800"/>
            <a:ext cx="14224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magnetopause crossings (expansion phase of the magnetosphere)</a:t>
            </a:r>
          </a:p>
          <a:p>
            <a:pPr lvl="1"/>
            <a:r>
              <a:rPr/>
              <a:t>breathing of the magnetopause is expected to occur on a time scale of hour for Jupiter.</a:t>
            </a:r>
          </a:p>
          <a:p>
            <a:pPr lvl="0"/>
            <a:r>
              <a:rPr/>
              <a:t>(density-depleted) hot flow anomaly (a flow reversal in their core HFA)</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Anti-sunward jets</a:t>
            </a:r>
          </a:p>
        </p:txBody>
      </p:sp>
      <p:sp>
        <p:nvSpPr>
          <p:cNvPr id="4" name="Text Placeholder 3"/>
          <p:cNvSpPr>
            <a:spLocks noGrp="1"/>
          </p:cNvSpPr>
          <p:nvPr>
            <p:ph idx="2" sz="half" type="body"/>
          </p:nvPr>
        </p:nvSpPr>
        <p:spPr/>
        <p:txBody>
          <a:bodyPr/>
          <a:lstStyle/>
          <a:p>
            <a:pPr lvl="0" indent="0" marL="0">
              <a:buNone/>
            </a:pPr>
            <a:r>
              <a:rPr/>
              <a:t>Reminiscent of the cores of HFA convected downstream</a:t>
            </a:r>
          </a:p>
          <a:p>
            <a:pPr lvl="0" indent="0" marL="0">
              <a:buNone/>
            </a:pPr>
            <a:r>
              <a:rPr/>
              <a:t>The two density peaks contributing to the dynamic pressure corresponded to the plasma pileups on the leading and trailing edges of the HFA.</a:t>
            </a:r>
          </a:p>
          <a:p>
            <a:pPr lvl="0" indent="0" marL="0">
              <a:buNone/>
            </a:pPr>
            <a:r>
              <a:rPr/>
              <a:t>The increased velocity in the jets may be attributed to the curved shock formed during shock–discontinuity interaction, since curved shocks are less capable of decelerating flows and thus could produce relatively high speed flows than other shocks.</a:t>
            </a:r>
          </a:p>
          <a:p>
            <a:pPr lvl="0" indent="0" marL="0">
              <a:buNone/>
            </a:pPr>
            <a:r>
              <a:rPr/>
              <a:t>Fast mode nature (not mirror modes, which exhibit durations ranging from 20 to 120 seconds and sizes equivalent approximately ~ 0.15RJ)</a:t>
            </a:r>
          </a:p>
        </p:txBody>
      </p:sp>
      <p:pic>
        <p:nvPicPr>
          <p:cNvPr descr="images/paste-4.png" id="0" name="Picture 1"/>
          <p:cNvPicPr>
            <a:picLocks noGrp="1" noChangeAspect="1"/>
          </p:cNvPicPr>
          <p:nvPr/>
        </p:nvPicPr>
        <p:blipFill>
          <a:blip r:embed="rId2"/>
          <a:stretch>
            <a:fillRect/>
          </a:stretch>
        </p:blipFill>
        <p:spPr bwMode="auto">
          <a:xfrm>
            <a:off x="4495800" y="203200"/>
            <a:ext cx="3251200" cy="43815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paste-2.png" id="0" name="Picture 1"/>
          <p:cNvPicPr>
            <a:picLocks noGrp="1" noChangeAspect="1"/>
          </p:cNvPicPr>
          <p:nvPr/>
        </p:nvPicPr>
        <p:blipFill>
          <a:blip r:embed="rId2"/>
          <a:stretch>
            <a:fillRect/>
          </a:stretch>
        </p:blipFill>
        <p:spPr bwMode="auto">
          <a:xfrm>
            <a:off x="3149600" y="1193800"/>
            <a:ext cx="28321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Comparing magnetosheath jets across planets</a:t>
            </a:r>
          </a:p>
        </p:txBody>
      </p:sp>
      <p:sp>
        <p:nvSpPr>
          <p:cNvPr id="4" name="Text Placeholder 3"/>
          <p:cNvSpPr>
            <a:spLocks noGrp="1"/>
          </p:cNvSpPr>
          <p:nvPr>
            <p:ph idx="2" sz="half" type="body"/>
          </p:nvPr>
        </p:nvSpPr>
        <p:spPr/>
        <p:txBody>
          <a:bodyPr/>
          <a:lstStyle/>
          <a:p>
            <a:pPr lvl="0" indent="0" marL="0">
              <a:buNone/>
            </a:pPr>
            <a:r>
              <a:rPr/>
              <a:t>ten minutes and can even approach an hour.</a:t>
            </a:r>
          </a:p>
          <a:p>
            <a:pPr lvl="0" indent="0" marL="0">
              <a:buNone/>
            </a:pPr>
            <a:r>
              <a:rPr/>
              <a:t>Much longer than the durations observed for jets at Earth (up to ~ 3 min)</a:t>
            </a:r>
          </a:p>
        </p:txBody>
      </p:sp>
      <p:pic>
        <p:nvPicPr>
          <p:cNvPr descr="images/paste-3.png" id="0" name="Picture 1"/>
          <p:cNvPicPr>
            <a:picLocks noGrp="1" noChangeAspect="1"/>
          </p:cNvPicPr>
          <p:nvPr/>
        </p:nvPicPr>
        <p:blipFill>
          <a:blip r:embed="rId2"/>
          <a:stretch>
            <a:fillRect/>
          </a:stretch>
        </p:blipFill>
        <p:spPr bwMode="auto">
          <a:xfrm>
            <a:off x="3962400" y="203200"/>
            <a:ext cx="4330700" cy="43815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a:t>
            </a:r>
          </a:p>
        </p:txBody>
      </p:sp>
      <p:sp>
        <p:nvSpPr>
          <p:cNvPr id="3" name="Content Placeholder 2"/>
          <p:cNvSpPr>
            <a:spLocks noGrp="1"/>
          </p:cNvSpPr>
          <p:nvPr>
            <p:ph idx="1"/>
          </p:nvPr>
        </p:nvSpPr>
        <p:spPr/>
        <p:txBody>
          <a:bodyPr/>
          <a:lstStyle/>
          <a:p>
            <a:pPr lvl="0" indent="0" marL="0">
              <a:buNone/>
            </a:pPr>
            <a:r>
              <a:rPr/>
              <a:t>They have reported anti-sunward and sunward jets in the Jovian magnetosheath.</a:t>
            </a:r>
          </a:p>
          <a:p>
            <a:pPr lvl="0" indent="0" marL="0">
              <a:buNone/>
            </a:pPr>
            <a:r>
              <a:rPr/>
              <a:t>These jets were associated with magnetic field discontinuities.</a:t>
            </a:r>
          </a:p>
          <a:p>
            <a:pPr lvl="0" indent="0" marL="0">
              <a:buNone/>
            </a:pPr>
            <a:r>
              <a:rPr/>
              <a:t>The highly intermittent and discontinuous magnetic fields in solar wind allow jets to be formed downstream of these planetery bow shocks.</a:t>
            </a:r>
          </a:p>
          <a:p>
            <a:pPr lvl="0" indent="0" marL="0">
              <a:buNone/>
            </a:pPr>
            <a:r>
              <a:rPr/>
              <a:t>More powerful jets than at Earth are expected in outer planets.</a:t>
            </a:r>
          </a:p>
          <a:p>
            <a:pPr lvl="0" indent="0" marL="0">
              <a:buNone/>
            </a:pPr>
            <a:r>
              <a:rPr/>
              <a:t>Given the high Mach number for Jovian and Kronian bow shock and the decreasing beta with solar centric distance beyond the Martian orbit. And yheoretical calculations suggest that the strength of jets (ratio of jet to upstream dynamic pressure) grow with Mach number and decrease with plasma beta (ratio of thermal to magnetic pressure).</a:t>
            </a:r>
          </a:p>
          <a:p>
            <a:pPr lvl="0" indent="0" marL="0">
              <a:buNone/>
            </a:pPr>
            <a:r>
              <a:rPr/>
              <a:t>Kajdič, Primož, Savvas Raptis, Xóchitl Blanco-Cano, and Tomas Karlsson. 2021. “Causes of Jets in the Quasi-Perpendicular Magnetosheath.” </a:t>
            </a:r>
            <a:r>
              <a:rPr i="1"/>
              <a:t>Geophysical Research Letters</a:t>
            </a:r>
            <a:r>
              <a:rPr/>
              <a:t> 48 (13): e2021GL093173. </a:t>
            </a:r>
            <a:r>
              <a:rPr>
                <a:hlinkClick r:id="rId2"/>
              </a:rPr>
              <a:t>https://doi.org/10.1029/2021GL093173</a:t>
            </a:r>
            <a:r>
              <a:rPr/>
              <a:t>.</a:t>
            </a:r>
          </a:p>
          <a:p>
            <a:pPr lvl="0" indent="0" marL="0">
              <a:buNone/>
            </a:pPr>
            <a:r>
              <a:rPr/>
              <a:t>Plaschke, Ferdinand, Heli Hietala, Martin Archer, Xóchitl Blanco-Cano, Primož Kajdič, Tomas Karlsson, Sun Hee Lee, et al. 2018. “Jets Downstream of Collisionless Shocks.” </a:t>
            </a:r>
            <a:r>
              <a:rPr i="1"/>
              <a:t>Space Science Reviews</a:t>
            </a:r>
            <a:r>
              <a:rPr/>
              <a:t> 214 (5): 81. </a:t>
            </a:r>
            <a:r>
              <a:rPr>
                <a:hlinkClick r:id="rId3"/>
              </a:rPr>
              <a:t>https://doi.org/10.1007/s11214-018-0516-3</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Magnetosheath jets at Jupiter and across the solar system</dc:title>
  <dc:creator>Yufei Zhou</dc:creator>
  <cp:keywords/>
  <dcterms:created xsi:type="dcterms:W3CDTF">2026-01-12T17:31:37Z</dcterms:created>
  <dcterms:modified xsi:type="dcterms:W3CDTF">2026-01-12T17:31:37Z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quarto-vars">
    <vt:lpwstr/>
  </property>
  <property fmtid="{D5CDD505-2E9C-101B-9397-08002B2CF9AE}" pid="3" name="authors">
    <vt:lpwstr/>
  </property>
  <property fmtid="{D5CDD505-2E9C-101B-9397-08002B2CF9AE}" pid="4" name="biblio-config">
    <vt:lpwstr>True</vt:lpwstr>
  </property>
  <property fmtid="{D5CDD505-2E9C-101B-9397-08002B2CF9AE}" pid="5" name="bibliography">
    <vt:lpwstr/>
  </property>
  <property fmtid="{D5CDD505-2E9C-101B-9397-08002B2CF9AE}" pid="6" name="by-author">
    <vt:lpwstr/>
  </property>
  <property fmtid="{D5CDD505-2E9C-101B-9397-08002B2CF9AE}" pid="7" name="categories">
    <vt:lpwstr/>
  </property>
  <property fmtid="{D5CDD505-2E9C-101B-9397-08002B2CF9AE}" pid="8" name="code-links">
    <vt:lpwstr/>
  </property>
  <property fmtid="{D5CDD505-2E9C-101B-9397-08002B2CF9AE}" pid="9" name="date">
    <vt:lpwstr>2026-01-08</vt:lpwstr>
  </property>
  <property fmtid="{D5CDD505-2E9C-101B-9397-08002B2CF9AE}" pid="10" name="engines">
    <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labels">
    <vt:lpwstr/>
  </property>
  <property fmtid="{D5CDD505-2E9C-101B-9397-08002B2CF9AE}" pid="15" name="toc-title">
    <vt:lpwstr>Table of contents</vt:lpwstr>
  </property>
</Properties>
</file>