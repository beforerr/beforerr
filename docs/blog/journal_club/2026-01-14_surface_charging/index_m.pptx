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8" r:id="rId3"/>
    <p:sldId id="267" r:id="rId4"/>
    <p:sldId id="268" r:id="rId5"/>
    <p:sldId id="261" r:id="rId6"/>
    <p:sldId id="262" r:id="rId7"/>
    <p:sldId id="264" r:id="rId8"/>
    <p:sldId id="266" r:id="rId9"/>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048" autoAdjust="0"/>
    <p:restoredTop sz="86693" autoAdjust="0"/>
  </p:normalViewPr>
  <p:slideViewPr>
    <p:cSldViewPr snapToGrid="0" snapToObjects="1">
      <p:cViewPr>
        <p:scale>
          <a:sx n="156" d="100"/>
          <a:sy n="156" d="100"/>
        </p:scale>
        <p:origin x="3816" y="1880"/>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secondary electron current (I_s) is controlled by ((E)). If energetic electrons hit Europa and knock out many secondaries, Europa loses negative charge and becomes more </a:t>
            </a:r>
            <a:r>
              <a:rPr b="1"/>
              <a:t>positive</a:t>
            </a:r>
            <a:r>
              <a:t>. Thus ((E)) is one of the most important material parameters.</a:t>
            </a:r>
          </a:p>
          <a:p>
            <a:pPr marL="0" lvl="0" indent="0">
              <a:buNone/>
            </a:pPr>
            <a:endParaRPr/>
          </a:p>
          <a:p>
            <a:pPr lvl="0"/>
            <a:r>
              <a:t>Very low-energy electrons: little emission</a:t>
            </a:r>
          </a:p>
          <a:p>
            <a:pPr marL="0" lvl="0" indent="0">
              <a:buNone/>
            </a:pPr>
            <a:endParaRPr/>
          </a:p>
          <a:p>
            <a:pPr lvl="0"/>
            <a:r>
              <a:t>Intermediate energy: yield rises</a:t>
            </a:r>
          </a:p>
          <a:p>
            <a:pPr marL="0" lvl="0" indent="0">
              <a:buNone/>
            </a:pPr>
            <a:endParaRPr/>
          </a:p>
          <a:p>
            <a:pPr lvl="0"/>
            <a:r>
              <a:t>High energy: electrons penetrate too deeply → most secondaries are reabsorbed → yield falls</a:t>
            </a:r>
          </a:p>
          <a:p>
            <a:pPr marL="0" lvl="0" indent="0">
              <a:buNone/>
            </a:pPr>
            <a:endParaRPr/>
          </a:p>
          <a:p>
            <a:pPr marL="0" lvl="0" indent="0">
              <a:buNone/>
            </a:pPr>
            <a:r>
              <a:t>The factor \frac{Q - 1 + e^{-Q}}{Q^2} comes from transport theory: it models how secondaries created at depth escape the material.</a:t>
            </a:r>
          </a:p>
          <a:p>
            <a:pPr marL="0" lvl="0" indent="0">
              <a:buNone/>
            </a:pPr>
            <a:endParaRPr/>
          </a:p>
          <a:p>
            <a:pPr marL="0" lvl="0" indent="0">
              <a:buNone/>
            </a:pPr>
            <a:r>
              <a:t>It behaves like this:</a:t>
            </a:r>
          </a:p>
          <a:p>
            <a:pPr marL="0" lvl="0" indent="0">
              <a:buNone/>
            </a:pPr>
            <a:endParaRPr/>
          </a:p>
          <a:p>
            <a:pPr lvl="0"/>
            <a:r>
              <a:t>Low energy (small (Q)): e^{-Q} \approx 1 - Q \quad\Rightarrow \quad Q - 1 + e^{-Q} \approx \tfrac{1}{2}Q^2</a:t>
            </a:r>
          </a:p>
          <a:p>
            <a:pPr marL="0" lvl="0" indent="0">
              <a:buNone/>
            </a:pPr>
            <a:endParaRPr/>
          </a:p>
          <a:p>
            <a:pPr marL="0" lvl="0" indent="0">
              <a:buNone/>
            </a:pPr>
            <a:r>
              <a:t>So (E): yield rises linearly with energy.</a:t>
            </a:r>
          </a:p>
          <a:p>
            <a:pPr marL="0" lvl="0" indent="0">
              <a:buNone/>
            </a:pPr>
            <a:endParaRPr/>
          </a:p>
          <a:p>
            <a:pPr lvl="0"/>
            <a:r>
              <a:t>High energy (large (Q)): e^{-Q} \to 0 \quad\Rightarrow\quad \frac{Q-1}{Q^2} \sim \frac{1}{Q}</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55319-E5C0-A9C1-8AF2-7E07142712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6D9993-DB63-8472-CEF1-03A0C32020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18CDEA-8067-C4FF-6805-EB24E9B97500}"/>
              </a:ext>
            </a:extLst>
          </p:cNvPr>
          <p:cNvSpPr>
            <a:spLocks noGrp="1"/>
          </p:cNvSpPr>
          <p:nvPr>
            <p:ph type="body" idx="1"/>
          </p:nvPr>
        </p:nvSpPr>
        <p:spPr/>
        <p:txBody>
          <a:bodyPr/>
          <a:lstStyle/>
          <a:p>
            <a:pPr marL="0" lvl="0" indent="0">
              <a:buNone/>
            </a:pPr>
            <a:r>
              <a:t>The secondary electron current (I_s) is controlled by ((E)). If energetic electrons hit Europa and knock out many secondaries, Europa loses negative charge and becomes more </a:t>
            </a:r>
            <a:r>
              <a:rPr b="1"/>
              <a:t>positive</a:t>
            </a:r>
            <a:r>
              <a:t>. Thus ((E)) is one of the most important material parameters.</a:t>
            </a:r>
          </a:p>
          <a:p>
            <a:pPr marL="0" lvl="0" indent="0">
              <a:buNone/>
            </a:pPr>
            <a:endParaRPr/>
          </a:p>
          <a:p>
            <a:pPr lvl="0"/>
            <a:r>
              <a:t>Very low-energy electrons: little emission</a:t>
            </a:r>
          </a:p>
          <a:p>
            <a:pPr marL="0" lvl="0" indent="0">
              <a:buNone/>
            </a:pPr>
            <a:endParaRPr/>
          </a:p>
          <a:p>
            <a:pPr lvl="0"/>
            <a:r>
              <a:t>Intermediate energy: yield rises</a:t>
            </a:r>
          </a:p>
          <a:p>
            <a:pPr marL="0" lvl="0" indent="0">
              <a:buNone/>
            </a:pPr>
            <a:endParaRPr/>
          </a:p>
          <a:p>
            <a:pPr lvl="0"/>
            <a:r>
              <a:t>High energy: electrons penetrate too deeply → most secondaries are reabsorbed → yield falls</a:t>
            </a:r>
          </a:p>
          <a:p>
            <a:pPr marL="0" lvl="0" indent="0">
              <a:buNone/>
            </a:pPr>
            <a:endParaRPr/>
          </a:p>
          <a:p>
            <a:pPr marL="0" lvl="0" indent="0">
              <a:buNone/>
            </a:pPr>
            <a:r>
              <a:t>The factor \frac{Q - 1 + e^{-Q}}{Q^2} comes from transport theory: it models how secondaries created at depth escape the material.</a:t>
            </a:r>
          </a:p>
          <a:p>
            <a:pPr marL="0" lvl="0" indent="0">
              <a:buNone/>
            </a:pPr>
            <a:endParaRPr/>
          </a:p>
          <a:p>
            <a:pPr marL="0" lvl="0" indent="0">
              <a:buNone/>
            </a:pPr>
            <a:r>
              <a:t>It behaves like this:</a:t>
            </a:r>
          </a:p>
          <a:p>
            <a:pPr marL="0" lvl="0" indent="0">
              <a:buNone/>
            </a:pPr>
            <a:endParaRPr/>
          </a:p>
          <a:p>
            <a:pPr lvl="0"/>
            <a:r>
              <a:t>Low energy (small (Q)): e^{-Q} \approx 1 - Q \quad\Rightarrow \quad Q - 1 + e^{-Q} \approx \tfrac{1}{2}Q^2</a:t>
            </a:r>
          </a:p>
          <a:p>
            <a:pPr marL="0" lvl="0" indent="0">
              <a:buNone/>
            </a:pPr>
            <a:endParaRPr/>
          </a:p>
          <a:p>
            <a:pPr marL="0" lvl="0" indent="0">
              <a:buNone/>
            </a:pPr>
            <a:r>
              <a:t>So (E): yield rises linearly with energy.</a:t>
            </a:r>
          </a:p>
          <a:p>
            <a:pPr marL="0" lvl="0" indent="0">
              <a:buNone/>
            </a:pPr>
            <a:endParaRPr/>
          </a:p>
          <a:p>
            <a:pPr lvl="0"/>
            <a:r>
              <a:t>High energy (large (Q)): e^{-Q} \to 0 \quad\Rightarrow\quad \frac{Q-1}{Q^2} \sim \frac{1}{Q}</a:t>
            </a:r>
          </a:p>
        </p:txBody>
      </p:sp>
      <p:sp>
        <p:nvSpPr>
          <p:cNvPr id="4" name="Slide Number Placeholder 3">
            <a:extLst>
              <a:ext uri="{FF2B5EF4-FFF2-40B4-BE49-F238E27FC236}">
                <a16:creationId xmlns:a16="http://schemas.microsoft.com/office/drawing/2014/main" id="{821E89D1-B50B-DF1F-23C6-D879B1EB52CD}"/>
              </a:ext>
            </a:extLst>
          </p:cNvPr>
          <p:cNvSpPr>
            <a:spLocks noGrp="1"/>
          </p:cNvSpPr>
          <p:nvPr>
            <p:ph type="sldNum" sz="quarter" idx="10"/>
          </p:nvPr>
        </p:nvSpPr>
        <p:spPr/>
        <p:txBody>
          <a:bodyPr/>
          <a:lstStyle/>
          <a:p>
            <a:fld id="{18BDFEC3-8487-43E8-A154-7C12CBC1FFF2}" type="slidenum">
              <a:rPr lang="en-US"/>
              <a:t>4</a:t>
            </a:fld>
            <a:endParaRPr lang="en-US"/>
          </a:p>
        </p:txBody>
      </p:sp>
    </p:spTree>
    <p:extLst>
      <p:ext uri="{BB962C8B-B14F-4D97-AF65-F5344CB8AC3E}">
        <p14:creationId xmlns:p14="http://schemas.microsoft.com/office/powerpoint/2010/main" val="20859938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dirty="0"/>
                  <a:t>. Europa orbits Jupiter at </a:t>
                </a:r>
                <a14:m>
                  <m:oMath xmlns:m="http://schemas.openxmlformats.org/officeDocument/2006/math">
                    <m:r>
                      <a:rPr lang="en-US">
                        <a:latin typeface="Cambria Math" panose="02040503050406030204" pitchFamily="18" charset="0"/>
                      </a:rPr>
                      <m:t>14</m:t>
                    </m:r>
                    <m:sSup>
                      <m:sSupPr>
                        <m:ctrlPr>
                          <a:rPr lang="ar-AE" i="1">
                            <a:latin typeface="Cambria Math" panose="02040503050406030204" pitchFamily="18" charset="0"/>
                          </a:rPr>
                        </m:ctrlPr>
                      </m:sSupPr>
                      <m:e>
                        <m:r>
                          <m:rPr>
                            <m:sty m:val="p"/>
                          </m:rPr>
                          <a:rPr lang="en-US">
                            <a:latin typeface="Cambria Math" panose="02040503050406030204" pitchFamily="18" charset="0"/>
                          </a:rPr>
                          <m:t>kms</m:t>
                        </m:r>
                      </m:e>
                      <m:sup>
                        <m:r>
                          <a:rPr lang="ar-AE">
                            <a:latin typeface="Cambria Math" panose="02040503050406030204" pitchFamily="18" charset="0"/>
                          </a:rPr>
                          <m:t>−1</m:t>
                        </m:r>
                      </m:sup>
                    </m:sSup>
                  </m:oMath>
                </a14:m>
                <a:r>
                  <a:rPr lang="ar-AE" dirty="0"/>
                  <a:t>, </a:t>
                </a:r>
                <a:r>
                  <a:rPr lang="en-US" dirty="0"/>
                  <a:t>while the magnetospheric plasma corotates with Jupiter at </a:t>
                </a:r>
                <a14:m>
                  <m:oMath xmlns:m="http://schemas.openxmlformats.org/officeDocument/2006/math">
                    <m:r>
                      <a:rPr lang="en-US">
                        <a:latin typeface="Cambria Math" panose="02040503050406030204" pitchFamily="18" charset="0"/>
                      </a:rPr>
                      <m:t>90</m:t>
                    </m:r>
                    <m:sSup>
                      <m:sSupPr>
                        <m:ctrlPr>
                          <a:rPr lang="ar-AE" i="1">
                            <a:latin typeface="Cambria Math" panose="02040503050406030204" pitchFamily="18" charset="0"/>
                          </a:rPr>
                        </m:ctrlPr>
                      </m:sSupPr>
                      <m:e>
                        <m:r>
                          <m:rPr>
                            <m:sty m:val="p"/>
                          </m:rPr>
                          <a:rPr lang="en-US">
                            <a:latin typeface="Cambria Math" panose="02040503050406030204" pitchFamily="18" charset="0"/>
                          </a:rPr>
                          <m:t>kms</m:t>
                        </m:r>
                      </m:e>
                      <m:sup>
                        <m:r>
                          <a:rPr lang="ar-AE">
                            <a:latin typeface="Cambria Math" panose="02040503050406030204" pitchFamily="18" charset="0"/>
                          </a:rPr>
                          <m:t>−1</m:t>
                        </m:r>
                      </m:sup>
                    </m:sSup>
                  </m:oMath>
                </a14:m>
                <a:r>
                  <a:rPr lang="ar-AE" dirty="0"/>
                  <a:t>, </a:t>
                </a:r>
                <a:r>
                  <a:rPr lang="en-US" dirty="0"/>
                  <a:t>resulting in a wake forming at Europa’s leading (downstream) hemisphere. Europa also possesses an ionosphere that is expected to be nonuniform and denser at the trailing (upstream) hemisphere. We capture this variability by simulating four discrete surface locations: </a:t>
                </a:r>
                <a:r>
                  <a:rPr lang="en-US" dirty="0" err="1"/>
                  <a:t>subJovian</a:t>
                </a:r>
                <a:r>
                  <a:rPr lang="en-US" dirty="0"/>
                  <a:t> 0°, leading 90°, anti-Jovian 180°, and trailing 270°, in both sunlight and eclipse.</a:t>
                </a:r>
              </a:p>
            </p:txBody>
          </p:sp>
        </mc:Choice>
        <mc:Fallback>
          <p:sp>
            <p:nvSpPr>
              <p:cNvPr id="3" name="Notes Placeholder 2"/>
              <p:cNvSpPr>
                <a:spLocks noGrp="1"/>
              </p:cNvSpPr>
              <p:nvPr>
                <p:ph type="body" idx="1"/>
              </p:nvPr>
            </p:nvSpPr>
            <p:spPr/>
            <p:txBody>
              <a:bodyPr/>
              <a:lstStyle/>
              <a:p>
                <a:r>
                  <a:rPr lang="en-US" dirty="0"/>
                  <a:t>. Europa orbits Jupiter at </a:t>
                </a:r>
                <a:r>
                  <a:rPr lang="en-US" i="0">
                    <a:latin typeface="Cambria Math" panose="02040503050406030204" pitchFamily="18" charset="0"/>
                  </a:rPr>
                  <a:t>14kms</a:t>
                </a:r>
                <a:r>
                  <a:rPr lang="ar-AE" i="0">
                    <a:latin typeface="Cambria Math" panose="02040503050406030204" pitchFamily="18" charset="0"/>
                  </a:rPr>
                  <a:t>^(−1)</a:t>
                </a:r>
                <a:r>
                  <a:rPr lang="ar-AE" dirty="0"/>
                  <a:t>, </a:t>
                </a:r>
                <a:r>
                  <a:rPr lang="en-US" dirty="0"/>
                  <a:t>while the magnetospheric plasma corotates with Jupiter at </a:t>
                </a:r>
                <a:r>
                  <a:rPr lang="en-US" i="0">
                    <a:latin typeface="Cambria Math" panose="02040503050406030204" pitchFamily="18" charset="0"/>
                  </a:rPr>
                  <a:t>90kms</a:t>
                </a:r>
                <a:r>
                  <a:rPr lang="ar-AE" i="0">
                    <a:latin typeface="Cambria Math" panose="02040503050406030204" pitchFamily="18" charset="0"/>
                  </a:rPr>
                  <a:t>^(−1)</a:t>
                </a:r>
                <a:r>
                  <a:rPr lang="ar-AE" dirty="0"/>
                  <a:t>, </a:t>
                </a:r>
                <a:r>
                  <a:rPr lang="en-US" dirty="0"/>
                  <a:t>resulting in a wake forming at Europa’s leading (downstream) hemisphere. Europa also possesses an ionosphere that is expected to be nonuniform and denser at the trailing (upstream) hemisphere. We capture this variability by simulating four discrete surface locations: </a:t>
                </a:r>
                <a:r>
                  <a:rPr lang="en-US" dirty="0" err="1"/>
                  <a:t>subJovian</a:t>
                </a:r>
                <a:r>
                  <a:rPr lang="en-US" dirty="0"/>
                  <a:t> 0°, leading 90°, anti-Jovian 180°, and trailing 270°, in both sunlight and eclipse.</a:t>
                </a:r>
              </a:p>
            </p:txBody>
          </p:sp>
        </mc:Fallback>
      </mc:AlternateContent>
      <p:sp>
        <p:nvSpPr>
          <p:cNvPr id="4" name="Slide Number Placeholder 3"/>
          <p:cNvSpPr>
            <a:spLocks noGrp="1"/>
          </p:cNvSpPr>
          <p:nvPr>
            <p:ph type="sldNum" sz="quarter" idx="5"/>
          </p:nvPr>
        </p:nvSpPr>
        <p:spPr/>
        <p:txBody>
          <a:bodyPr/>
          <a:lstStyle/>
          <a:p>
            <a:fld id="{18BDFEC3-8487-43E8-A154-7C12CBC1FFF2}" type="slidenum">
              <a:rPr lang="en-US" smtClean="0"/>
              <a:t>5</a:t>
            </a:fld>
            <a:endParaRPr lang="en-US"/>
          </a:p>
        </p:txBody>
      </p:sp>
    </p:spTree>
    <p:extLst>
      <p:ext uri="{BB962C8B-B14F-4D97-AF65-F5344CB8AC3E}">
        <p14:creationId xmlns:p14="http://schemas.microsoft.com/office/powerpoint/2010/main" val="19853101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sub-Jovian hemisphere is slightly more negative than the anti-Jovian side and this is due to the 14% decrease in the ionospheric density</a:t>
            </a:r>
          </a:p>
          <a:p>
            <a:endParaRPr lang="en-US" dirty="0"/>
          </a:p>
          <a:p>
            <a:r>
              <a:rPr lang="en-US" dirty="0"/>
              <a:t>In this hemisphere, plasma is effectively flowing away from the surface and only electrons have access to the surface because of their increased thermal motion compared  to the less mobile O+ magnetospheric ions. A temperature increase from 200 eV (cold) to 1200 eV (hot) (per </a:t>
            </a:r>
            <a:r>
              <a:rPr lang="en-US" dirty="0" err="1"/>
              <a:t>Bagenal</a:t>
            </a:r>
            <a:r>
              <a:rPr lang="en-US" dirty="0"/>
              <a:t> et al. 2015), in the </a:t>
            </a:r>
            <a:r>
              <a:rPr lang="en-US" dirty="0" err="1"/>
              <a:t>suprathermal</a:t>
            </a:r>
            <a:r>
              <a:rPr lang="en-US" dirty="0"/>
              <a:t> population leads to significantly higher potentials (−14 versus −42 V) even when the plasma  drift is effectively 0 m s−1 or negative. This effect is less  pronounced on the other three hemispheres, because the O+ ions have access to the surface, which acts as a positive current</a:t>
            </a:r>
          </a:p>
          <a:p>
            <a:r>
              <a:rPr lang="en-US" dirty="0"/>
              <a:t>r</a:t>
            </a:r>
          </a:p>
          <a:p>
            <a:r>
              <a:rPr lang="en-US" dirty="0"/>
              <a:t>n the trailing hemisphere, the colder and denser plasma population (i.e., when Europa is closest to the centrifugal equator), leads to a marginally stronger surface potential. This is attributable to the increased number of electrons that have access to the surface because of the plasma flow.</a:t>
            </a:r>
          </a:p>
        </p:txBody>
      </p:sp>
      <p:sp>
        <p:nvSpPr>
          <p:cNvPr id="4" name="Slide Number Placeholder 3"/>
          <p:cNvSpPr>
            <a:spLocks noGrp="1"/>
          </p:cNvSpPr>
          <p:nvPr>
            <p:ph type="sldNum" sz="quarter" idx="5"/>
          </p:nvPr>
        </p:nvSpPr>
        <p:spPr/>
        <p:txBody>
          <a:bodyPr/>
          <a:lstStyle/>
          <a:p>
            <a:fld id="{18BDFEC3-8487-43E8-A154-7C12CBC1FFF2}" type="slidenum">
              <a:rPr lang="en-US" smtClean="0"/>
              <a:t>6</a:t>
            </a:fld>
            <a:endParaRPr lang="en-US"/>
          </a:p>
        </p:txBody>
      </p:sp>
    </p:spTree>
    <p:extLst>
      <p:ext uri="{BB962C8B-B14F-4D97-AF65-F5344CB8AC3E}">
        <p14:creationId xmlns:p14="http://schemas.microsoft.com/office/powerpoint/2010/main" val="39510278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reduced ionosphere leads to a greater surface potential and this is especially the case with the hot parameters. This “ionospheric dampening” effect also acts to suppress surface potentials at the other hemispheres by a similar magnitude</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1/14/26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8.xml"/><Relationship Id="rId5" Type="http://schemas.openxmlformats.org/officeDocument/2006/relationships/image" Target="../media/image5.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marL="0" lvl="0" indent="0">
              <a:buNone/>
            </a:pPr>
            <a:r>
              <a:t>Surface charging of Jupiter’s moon europa</a:t>
            </a:r>
          </a:p>
        </p:txBody>
      </p:sp>
      <p:sp>
        <p:nvSpPr>
          <p:cNvPr id="3" name="Subtitle 2"/>
          <p:cNvSpPr>
            <a:spLocks noGrp="1"/>
          </p:cNvSpPr>
          <p:nvPr>
            <p:ph type="subTitle" idx="1"/>
          </p:nvPr>
        </p:nvSpPr>
        <p:spPr>
          <a:xfrm>
            <a:off x="1371600" y="2914650"/>
            <a:ext cx="6400800" cy="1314450"/>
          </a:xfrm>
        </p:spPr>
        <p:txBody>
          <a:bodyPr>
            <a:normAutofit fontScale="77500" lnSpcReduction="20000"/>
          </a:bodyPr>
          <a:lstStyle/>
          <a:p>
            <a:pPr marL="0" lvl="0" indent="0">
              <a:buNone/>
            </a:pPr>
            <a:br/>
            <a:br/>
            <a:r>
              <a:t>Sachin A. Reddy</a:t>
            </a:r>
            <a:br/>
            <a:r>
              <a:t>Tom A. Nordheim</a:t>
            </a:r>
            <a:br/>
            <a:r>
              <a:t>Camilla D. K. Harris</a:t>
            </a:r>
          </a:p>
        </p:txBody>
      </p:sp>
      <p:sp>
        <p:nvSpPr>
          <p:cNvPr id="4" name="Date Placeholder 3"/>
          <p:cNvSpPr>
            <a:spLocks noGrp="1"/>
          </p:cNvSpPr>
          <p:nvPr>
            <p:ph type="dt" sz="half" idx="10"/>
          </p:nvPr>
        </p:nvSpPr>
        <p:spPr/>
        <p:txBody>
          <a:bodyPr/>
          <a:lstStyle/>
          <a:p>
            <a:pPr marL="0" lvl="0" indent="0">
              <a:buNone/>
            </a:pPr>
            <a:r>
              <a:t>2026-01-14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709" y="-187920"/>
            <a:ext cx="8229600" cy="857250"/>
          </a:xfrm>
        </p:spPr>
        <p:txBody>
          <a:bodyPr>
            <a:normAutofit/>
          </a:bodyPr>
          <a:lstStyle/>
          <a:p>
            <a:pPr marL="0" lvl="0" indent="0">
              <a:buNone/>
            </a:pPr>
            <a:r>
              <a:rPr dirty="0"/>
              <a:t>1. Motivation: Europa in Jupiter’s plasma</a:t>
            </a:r>
          </a:p>
        </p:txBody>
      </p:sp>
      <p:sp>
        <p:nvSpPr>
          <p:cNvPr id="3" name="Content Placeholder 2"/>
          <p:cNvSpPr>
            <a:spLocks noGrp="1"/>
          </p:cNvSpPr>
          <p:nvPr>
            <p:ph idx="1"/>
          </p:nvPr>
        </p:nvSpPr>
        <p:spPr>
          <a:xfrm>
            <a:off x="0" y="641316"/>
            <a:ext cx="6733185" cy="4332817"/>
          </a:xfrm>
        </p:spPr>
        <p:txBody>
          <a:bodyPr>
            <a:normAutofit/>
          </a:bodyPr>
          <a:lstStyle/>
          <a:p>
            <a:pPr marL="0" lvl="0" indent="0">
              <a:buNone/>
            </a:pPr>
            <a:r>
              <a:rPr b="1" dirty="0"/>
              <a:t>What are the electric potentials that develop on Europa’s surface?</a:t>
            </a:r>
          </a:p>
          <a:p>
            <a:pPr marL="0" lvl="0" indent="0">
              <a:buNone/>
            </a:pPr>
            <a:r>
              <a:rPr dirty="0"/>
              <a:t>Why Europa is special? Europa sees </a:t>
            </a:r>
            <a:r>
              <a:rPr b="1" dirty="0"/>
              <a:t>two plasma populations at once</a:t>
            </a:r>
            <a:r>
              <a:rPr dirty="0"/>
              <a:t>:</a:t>
            </a:r>
            <a:endParaRPr lang="en-US" dirty="0"/>
          </a:p>
        </p:txBody>
      </p:sp>
      <p:pic>
        <p:nvPicPr>
          <p:cNvPr id="1030" name="Picture 6" descr="[object Object]">
            <a:extLst>
              <a:ext uri="{FF2B5EF4-FFF2-40B4-BE49-F238E27FC236}">
                <a16:creationId xmlns:a16="http://schemas.microsoft.com/office/drawing/2014/main" id="{CA15A825-C5E3-282C-2C98-4C8EC6D155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4749" y="641316"/>
            <a:ext cx="2834217" cy="190242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F5896BCF-1C92-E0F7-81AD-5FEE6D5AA213}"/>
              </a:ext>
            </a:extLst>
          </p:cNvPr>
          <p:cNvSpPr txBox="1"/>
          <p:nvPr/>
        </p:nvSpPr>
        <p:spPr>
          <a:xfrm>
            <a:off x="110067" y="2348255"/>
            <a:ext cx="9033933" cy="2923877"/>
          </a:xfrm>
          <a:prstGeom prst="rect">
            <a:avLst/>
          </a:prstGeom>
          <a:noFill/>
        </p:spPr>
        <p:txBody>
          <a:bodyPr wrap="square" rtlCol="0">
            <a:spAutoFit/>
          </a:bodyPr>
          <a:lstStyle/>
          <a:p>
            <a:pPr marL="285750" lvl="0" indent="-285750">
              <a:buFont typeface="Arial" panose="020B0604020202020204" pitchFamily="34" charset="0"/>
              <a:buChar char="•"/>
            </a:pPr>
            <a:r>
              <a:rPr lang="en-US" sz="2300" dirty="0"/>
              <a:t>Not shielded by a thick atmosphere =&gt; bombardment from the comparatively hot and tenuous Jupiter’s magnetospheric plasma</a:t>
            </a:r>
          </a:p>
          <a:p>
            <a:pPr marL="285750" lvl="0" indent="-285750">
              <a:buFont typeface="Arial" panose="020B0604020202020204" pitchFamily="34" charset="0"/>
              <a:buChar char="•"/>
            </a:pPr>
            <a:endParaRPr lang="en-US" sz="2300" dirty="0"/>
          </a:p>
          <a:p>
            <a:pPr marL="285750" lvl="0" indent="-285750">
              <a:buFont typeface="Arial" panose="020B0604020202020204" pitchFamily="34" charset="0"/>
              <a:buChar char="•"/>
            </a:pPr>
            <a:r>
              <a:rPr lang="en-US" sz="2300" dirty="0"/>
              <a:t>Ionosphere extends to the surface =&gt; exposed to both dense and cold ionospheric plasma</a:t>
            </a:r>
          </a:p>
          <a:p>
            <a:pPr marL="285750" lvl="0" indent="-285750">
              <a:buFont typeface="Arial" panose="020B0604020202020204" pitchFamily="34" charset="0"/>
              <a:buChar char="•"/>
            </a:pPr>
            <a:endParaRPr lang="en-US" sz="2300" dirty="0"/>
          </a:p>
          <a:p>
            <a:pPr marL="285750" lvl="0" indent="-285750">
              <a:buFont typeface="Arial" panose="020B0604020202020204" pitchFamily="34" charset="0"/>
              <a:buChar char="•"/>
            </a:pPr>
            <a:r>
              <a:rPr lang="en-US" sz="2300" dirty="0"/>
              <a:t>Jupiter’s plasma flows past Europa at </a:t>
            </a:r>
            <a:r>
              <a:rPr lang="en-US" sz="2300" b="1" dirty="0"/>
              <a:t>90 km/s </a:t>
            </a:r>
            <a:r>
              <a:rPr lang="en-US" sz="2300" dirty="0"/>
              <a:t>versus</a:t>
            </a:r>
            <a:r>
              <a:rPr lang="en-US" sz="2300" b="1" dirty="0"/>
              <a:t> </a:t>
            </a:r>
            <a:r>
              <a:rPr lang="en-US" sz="2300" dirty="0"/>
              <a:t>Europa orbits Jupiter at 14 km/s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2. The physics model: </a:t>
            </a:r>
            <a:r>
              <a:rPr lang="en-US" dirty="0"/>
              <a:t>currents balance</a:t>
            </a:r>
            <a:endParaRPr dirty="0"/>
          </a:p>
        </p:txBody>
      </p:sp>
      <mc:AlternateContent xmlns:mc="http://schemas.openxmlformats.org/markup-compatibility/2006">
        <mc:Choice xmlns:a14="http://schemas.microsoft.com/office/drawing/2010/main" Requires="a14">
          <p:sp>
            <p:nvSpPr>
              <p:cNvPr id="12" name="Content Placeholder 2">
                <a:extLst>
                  <a:ext uri="{FF2B5EF4-FFF2-40B4-BE49-F238E27FC236}">
                    <a16:creationId xmlns:a16="http://schemas.microsoft.com/office/drawing/2014/main" id="{40ED2FB7-7AA4-0358-29F8-5ECA8F703146}"/>
                  </a:ext>
                </a:extLst>
              </p:cNvPr>
              <p:cNvSpPr>
                <a:spLocks noGrp="1"/>
              </p:cNvSpPr>
              <p:nvPr>
                <p:ph idx="1"/>
              </p:nvPr>
            </p:nvSpPr>
            <p:spPr>
              <a:xfrm>
                <a:off x="122464" y="1151165"/>
                <a:ext cx="8229600" cy="3394472"/>
              </a:xfrm>
            </p:spPr>
            <p:txBody>
              <a:bodyPr>
                <a:normAutofit fontScale="92500" lnSpcReduction="10000"/>
              </a:bodyPr>
              <a:lstStyle/>
              <a:p>
                <a:pPr marL="0" lvl="0" indent="0">
                  <a:buNone/>
                </a:pPr>
                <a:r>
                  <a:rPr dirty="0"/>
                  <a:t>Europa’s surface charges until all currents balance:</a:t>
                </a:r>
                <a:endParaRPr lang="en-US" dirty="0"/>
              </a:p>
              <a:p>
                <a:pPr marL="0" lvl="0" indent="0">
                  <a:buNone/>
                </a:pPr>
                <a:endParaRPr dirty="0"/>
              </a:p>
              <a:p>
                <a:pPr marL="0" lvl="0" indent="0">
                  <a:buNone/>
                </a:pPr>
                <a14:m>
                  <m:oMathPara xmlns:m="http://schemas.openxmlformats.org/officeDocument/2006/math">
                    <m:oMathParaPr>
                      <m:jc m:val="center"/>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𝐼</m:t>
                          </m:r>
                        </m:e>
                        <m:sub>
                          <m:r>
                            <a:rPr>
                              <a:latin typeface="Cambria Math" panose="02040503050406030204" pitchFamily="18" charset="0"/>
                            </a:rPr>
                            <m:t>𝑒</m:t>
                          </m:r>
                        </m:sub>
                      </m:sSub>
                      <m:d>
                        <m:dPr>
                          <m:ctrlPr>
                            <a:rPr i="1">
                              <a:latin typeface="Cambria Math" panose="02040503050406030204" pitchFamily="18" charset="0"/>
                            </a:rPr>
                          </m:ctrlPr>
                        </m:dPr>
                        <m:e>
                          <m:r>
                            <a:rPr>
                              <a:latin typeface="Cambria Math" panose="02040503050406030204" pitchFamily="18" charset="0"/>
                            </a:rPr>
                            <m:t>𝜙</m:t>
                          </m:r>
                        </m:e>
                      </m:d>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𝐼</m:t>
                          </m:r>
                        </m:e>
                        <m:sub>
                          <m:r>
                            <a:rPr>
                              <a:latin typeface="Cambria Math" panose="02040503050406030204" pitchFamily="18" charset="0"/>
                            </a:rPr>
                            <m:t>𝑖</m:t>
                          </m:r>
                        </m:sub>
                      </m:sSub>
                      <m:d>
                        <m:dPr>
                          <m:ctrlPr>
                            <a:rPr i="1">
                              <a:latin typeface="Cambria Math" panose="02040503050406030204" pitchFamily="18" charset="0"/>
                            </a:rPr>
                          </m:ctrlPr>
                        </m:dPr>
                        <m:e>
                          <m:r>
                            <a:rPr>
                              <a:latin typeface="Cambria Math" panose="02040503050406030204" pitchFamily="18" charset="0"/>
                            </a:rPr>
                            <m:t>𝜙</m:t>
                          </m:r>
                        </m:e>
                      </m:d>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𝐼</m:t>
                          </m:r>
                        </m:e>
                        <m:sub>
                          <m:r>
                            <a:rPr>
                              <a:latin typeface="Cambria Math" panose="02040503050406030204" pitchFamily="18" charset="0"/>
                            </a:rPr>
                            <m:t>𝑠</m:t>
                          </m:r>
                        </m:sub>
                      </m:sSub>
                      <m:d>
                        <m:dPr>
                          <m:ctrlPr>
                            <a:rPr i="1">
                              <a:latin typeface="Cambria Math" panose="02040503050406030204" pitchFamily="18" charset="0"/>
                            </a:rPr>
                          </m:ctrlPr>
                        </m:dPr>
                        <m:e>
                          <m:r>
                            <a:rPr>
                              <a:latin typeface="Cambria Math" panose="02040503050406030204" pitchFamily="18" charset="0"/>
                            </a:rPr>
                            <m:t>𝜙</m:t>
                          </m:r>
                        </m:e>
                      </m:d>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𝐼</m:t>
                          </m:r>
                        </m:e>
                        <m:sub>
                          <m:r>
                            <a:rPr>
                              <a:latin typeface="Cambria Math" panose="02040503050406030204" pitchFamily="18" charset="0"/>
                            </a:rPr>
                            <m:t>𝑝h</m:t>
                          </m:r>
                        </m:sub>
                      </m:sSub>
                      <m:d>
                        <m:dPr>
                          <m:ctrlPr>
                            <a:rPr i="1">
                              <a:latin typeface="Cambria Math" panose="02040503050406030204" pitchFamily="18" charset="0"/>
                            </a:rPr>
                          </m:ctrlPr>
                        </m:dPr>
                        <m:e>
                          <m:r>
                            <a:rPr>
                              <a:latin typeface="Cambria Math" panose="02040503050406030204" pitchFamily="18" charset="0"/>
                            </a:rPr>
                            <m:t>𝜙</m:t>
                          </m:r>
                        </m:e>
                      </m:d>
                      <m:r>
                        <a:rPr>
                          <a:latin typeface="Cambria Math" panose="02040503050406030204" pitchFamily="18" charset="0"/>
                        </a:rPr>
                        <m:t>=0</m:t>
                      </m:r>
                    </m:oMath>
                  </m:oMathPara>
                </a14:m>
                <a:endParaRPr dirty="0"/>
              </a:p>
              <a:p>
                <a:pPr marL="0" lvl="0" indent="0">
                  <a:buNone/>
                </a:pPr>
                <a:r>
                  <a:rPr dirty="0"/>
                  <a:t>where</a:t>
                </a:r>
              </a:p>
              <a:p>
                <a:pPr lvl="0"/>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𝐼</m:t>
                        </m:r>
                      </m:e>
                      <m:sub>
                        <m:r>
                          <a:rPr>
                            <a:latin typeface="Cambria Math" panose="02040503050406030204" pitchFamily="18" charset="0"/>
                          </a:rPr>
                          <m:t>𝑒</m:t>
                        </m:r>
                      </m:sub>
                    </m:sSub>
                  </m:oMath>
                </a14:m>
                <a:r>
                  <a:rPr dirty="0"/>
                  <a:t>: Plasma electrons hitting surface</a:t>
                </a:r>
              </a:p>
              <a:p>
                <a:pPr lvl="0"/>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𝐼</m:t>
                        </m:r>
                      </m:e>
                      <m:sub>
                        <m:r>
                          <a:rPr>
                            <a:latin typeface="Cambria Math" panose="02040503050406030204" pitchFamily="18" charset="0"/>
                          </a:rPr>
                          <m:t>𝑖</m:t>
                        </m:r>
                      </m:sub>
                    </m:sSub>
                  </m:oMath>
                </a14:m>
                <a:r>
                  <a:rPr dirty="0"/>
                  <a:t>: Plasma ions hitting surface</a:t>
                </a:r>
              </a:p>
              <a:p>
                <a:pPr lvl="0"/>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𝐼</m:t>
                        </m:r>
                      </m:e>
                      <m:sub>
                        <m:r>
                          <a:rPr>
                            <a:latin typeface="Cambria Math" panose="02040503050406030204" pitchFamily="18" charset="0"/>
                          </a:rPr>
                          <m:t>𝑠</m:t>
                        </m:r>
                      </m:sub>
                    </m:sSub>
                  </m:oMath>
                </a14:m>
                <a:r>
                  <a:rPr dirty="0"/>
                  <a:t>: Secondary electrons emitted from ice</a:t>
                </a:r>
              </a:p>
              <a:p>
                <a:pPr lvl="0"/>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𝐼</m:t>
                        </m:r>
                      </m:e>
                      <m:sub>
                        <m:r>
                          <a:rPr>
                            <a:latin typeface="Cambria Math" panose="02040503050406030204" pitchFamily="18" charset="0"/>
                          </a:rPr>
                          <m:t>𝑝h</m:t>
                        </m:r>
                      </m:sub>
                    </m:sSub>
                  </m:oMath>
                </a14:m>
                <a:r>
                  <a:rPr dirty="0"/>
                  <a:t>: Photoelectrons from sunlight</a:t>
                </a:r>
              </a:p>
              <a:p>
                <a:pPr lvl="0"/>
                <a14:m>
                  <m:oMath xmlns:m="http://schemas.openxmlformats.org/officeDocument/2006/math">
                    <m:r>
                      <a:rPr>
                        <a:latin typeface="Cambria Math" panose="02040503050406030204" pitchFamily="18" charset="0"/>
                      </a:rPr>
                      <m:t>𝜙</m:t>
                    </m:r>
                  </m:oMath>
                </a14:m>
                <a:r>
                  <a:rPr dirty="0"/>
                  <a:t>: Surface electric potential</a:t>
                </a:r>
              </a:p>
            </p:txBody>
          </p:sp>
        </mc:Choice>
        <mc:Fallback>
          <p:sp>
            <p:nvSpPr>
              <p:cNvPr id="12" name="Content Placeholder 2">
                <a:extLst>
                  <a:ext uri="{FF2B5EF4-FFF2-40B4-BE49-F238E27FC236}">
                    <a16:creationId xmlns:a16="http://schemas.microsoft.com/office/drawing/2014/main" id="{40ED2FB7-7AA4-0358-29F8-5ECA8F703146}"/>
                  </a:ext>
                </a:extLst>
              </p:cNvPr>
              <p:cNvSpPr>
                <a:spLocks noGrp="1" noRot="1" noChangeAspect="1" noMove="1" noResize="1" noEditPoints="1" noAdjustHandles="1" noChangeArrowheads="1" noChangeShapeType="1" noTextEdit="1"/>
              </p:cNvSpPr>
              <p:nvPr>
                <p:ph idx="1"/>
              </p:nvPr>
            </p:nvSpPr>
            <p:spPr>
              <a:xfrm>
                <a:off x="122464" y="1151165"/>
                <a:ext cx="8229600" cy="3394472"/>
              </a:xfrm>
              <a:blipFill>
                <a:blip r:embed="rId3"/>
                <a:stretch>
                  <a:fillRect l="-924" t="-2230" b="-2602"/>
                </a:stretch>
              </a:blipFill>
            </p:spPr>
            <p:txBody>
              <a:bodyPr/>
              <a:lstStyle/>
              <a:p>
                <a:r>
                  <a:rPr lang="en-US">
                    <a:noFill/>
                  </a:rPr>
                  <a:t> </a:t>
                </a:r>
              </a:p>
            </p:txBody>
          </p:sp>
        </mc:Fallback>
      </mc:AlternateContent>
      <p:pic>
        <p:nvPicPr>
          <p:cNvPr id="13" name="Picture 12">
            <a:extLst>
              <a:ext uri="{FF2B5EF4-FFF2-40B4-BE49-F238E27FC236}">
                <a16:creationId xmlns:a16="http://schemas.microsoft.com/office/drawing/2014/main" id="{9F6B12ED-42D6-364C-240B-B54D99618CF8}"/>
              </a:ext>
            </a:extLst>
          </p:cNvPr>
          <p:cNvPicPr>
            <a:picLocks noChangeAspect="1"/>
          </p:cNvPicPr>
          <p:nvPr/>
        </p:nvPicPr>
        <p:blipFill>
          <a:blip r:embed="rId4"/>
          <a:stretch>
            <a:fillRect/>
          </a:stretch>
        </p:blipFill>
        <p:spPr>
          <a:xfrm rot="5400000">
            <a:off x="5946541" y="1603143"/>
            <a:ext cx="2606275" cy="424584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C0627-6F93-F364-71BC-18825ABB3A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08F1C1-A6B2-3870-DCEB-9718ACA52A90}"/>
              </a:ext>
            </a:extLst>
          </p:cNvPr>
          <p:cNvSpPr>
            <a:spLocks noGrp="1"/>
          </p:cNvSpPr>
          <p:nvPr>
            <p:ph type="title"/>
          </p:nvPr>
        </p:nvSpPr>
        <p:spPr/>
        <p:txBody>
          <a:bodyPr>
            <a:normAutofit fontScale="90000"/>
          </a:bodyPr>
          <a:lstStyle/>
          <a:p>
            <a:pPr marL="0" lvl="0" indent="0">
              <a:buNone/>
            </a:pPr>
            <a:r>
              <a:t>2. The physics model: material parameters and secondary electron emission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2A3506D-7089-981A-3D95-DA6C7A4992ED}"/>
                  </a:ext>
                </a:extLst>
              </p:cNvPr>
              <p:cNvSpPr>
                <a:spLocks noGrp="1"/>
              </p:cNvSpPr>
              <p:nvPr>
                <p:ph idx="1"/>
              </p:nvPr>
            </p:nvSpPr>
            <p:spPr>
              <a:xfrm>
                <a:off x="457200" y="1200150"/>
                <a:ext cx="8539316" cy="3943349"/>
              </a:xfrm>
            </p:spPr>
            <p:txBody>
              <a:bodyPr>
                <a:normAutofit fontScale="55000" lnSpcReduction="20000"/>
              </a:bodyPr>
              <a:lstStyle/>
              <a:p>
                <a:pPr marL="0" lvl="0" indent="0">
                  <a:buNone/>
                </a:pPr>
                <a:r>
                  <a:rPr lang="en-US" dirty="0"/>
                  <a:t>Ice emits electrons when hit by energetic electrons.</a:t>
                </a:r>
              </a:p>
              <a:p>
                <a:pPr marL="0" lvl="0" indent="0">
                  <a:buNone/>
                </a:pPr>
                <a14:m>
                  <m:oMathPara xmlns:m="http://schemas.openxmlformats.org/officeDocument/2006/math">
                    <m:oMathParaPr>
                      <m:jc m:val="center"/>
                    </m:oMathParaPr>
                    <m:oMath xmlns:m="http://schemas.openxmlformats.org/officeDocument/2006/math">
                      <m:r>
                        <a:rPr lang="en-US">
                          <a:latin typeface="Cambria Math" panose="02040503050406030204" pitchFamily="18" charset="0"/>
                        </a:rPr>
                        <m:t>𝛿</m:t>
                      </m:r>
                      <m:d>
                        <m:dPr>
                          <m:ctrlPr>
                            <a:rPr lang="ar-AE" i="1">
                              <a:latin typeface="Cambria Math" panose="02040503050406030204" pitchFamily="18" charset="0"/>
                            </a:rPr>
                          </m:ctrlPr>
                        </m:dPr>
                        <m:e>
                          <m:r>
                            <a:rPr lang="ar-AE">
                              <a:latin typeface="Cambria Math" panose="02040503050406030204" pitchFamily="18" charset="0"/>
                            </a:rPr>
                            <m:t>𝐸</m:t>
                          </m:r>
                        </m:e>
                      </m:d>
                      <m:r>
                        <a:rPr lang="ar-AE">
                          <a:latin typeface="Cambria Math" panose="02040503050406030204" pitchFamily="18" charset="0"/>
                        </a:rPr>
                        <m:t>≡</m:t>
                      </m:r>
                      <m:f>
                        <m:fPr>
                          <m:ctrlPr>
                            <a:rPr lang="ar-AE" i="1">
                              <a:latin typeface="Cambria Math" panose="02040503050406030204" pitchFamily="18" charset="0"/>
                            </a:rPr>
                          </m:ctrlPr>
                        </m:fPr>
                        <m:num>
                          <m:r>
                            <m:rPr>
                              <m:nor/>
                            </m:rPr>
                            <a:rPr lang="en-US"/>
                            <m:t>number</m:t>
                          </m:r>
                          <m:r>
                            <m:rPr>
                              <m:nor/>
                            </m:rPr>
                            <a:rPr lang="en-US"/>
                            <m:t> </m:t>
                          </m:r>
                          <m:r>
                            <m:rPr>
                              <m:nor/>
                            </m:rPr>
                            <a:rPr lang="en-US"/>
                            <m:t>of</m:t>
                          </m:r>
                          <m:r>
                            <m:rPr>
                              <m:nor/>
                            </m:rPr>
                            <a:rPr lang="en-US"/>
                            <m:t> </m:t>
                          </m:r>
                          <m:r>
                            <m:rPr>
                              <m:nor/>
                            </m:rPr>
                            <a:rPr lang="en-US"/>
                            <m:t>electrons</m:t>
                          </m:r>
                          <m:r>
                            <m:rPr>
                              <m:nor/>
                            </m:rPr>
                            <a:rPr lang="en-US"/>
                            <m:t> </m:t>
                          </m:r>
                          <m:r>
                            <m:rPr>
                              <m:nor/>
                            </m:rPr>
                            <a:rPr lang="en-US"/>
                            <m:t>emitted</m:t>
                          </m:r>
                          <m:r>
                            <m:rPr>
                              <m:nor/>
                            </m:rPr>
                            <a:rPr lang="en-US"/>
                            <m:t> </m:t>
                          </m:r>
                          <m:r>
                            <m:rPr>
                              <m:nor/>
                            </m:rPr>
                            <a:rPr lang="en-US"/>
                            <m:t>from</m:t>
                          </m:r>
                          <m:r>
                            <m:rPr>
                              <m:nor/>
                            </m:rPr>
                            <a:rPr lang="en-US"/>
                            <m:t> </m:t>
                          </m:r>
                          <m:r>
                            <m:rPr>
                              <m:nor/>
                            </m:rPr>
                            <a:rPr lang="en-US"/>
                            <m:t>the</m:t>
                          </m:r>
                          <m:r>
                            <m:rPr>
                              <m:nor/>
                            </m:rPr>
                            <a:rPr lang="en-US"/>
                            <m:t> </m:t>
                          </m:r>
                          <m:r>
                            <m:rPr>
                              <m:nor/>
                            </m:rPr>
                            <a:rPr lang="en-US"/>
                            <m:t>surface</m:t>
                          </m:r>
                        </m:num>
                        <m:den>
                          <m:r>
                            <m:rPr>
                              <m:nor/>
                            </m:rPr>
                            <a:rPr lang="en-US"/>
                            <m:t>number</m:t>
                          </m:r>
                          <m:r>
                            <m:rPr>
                              <m:nor/>
                            </m:rPr>
                            <a:rPr lang="en-US"/>
                            <m:t> </m:t>
                          </m:r>
                          <m:r>
                            <m:rPr>
                              <m:nor/>
                            </m:rPr>
                            <a:rPr lang="en-US"/>
                            <m:t>of</m:t>
                          </m:r>
                          <m:r>
                            <m:rPr>
                              <m:nor/>
                            </m:rPr>
                            <a:rPr lang="en-US"/>
                            <m:t> </m:t>
                          </m:r>
                          <m:r>
                            <m:rPr>
                              <m:nor/>
                            </m:rPr>
                            <a:rPr lang="en-US"/>
                            <m:t>electrons</m:t>
                          </m:r>
                          <m:r>
                            <m:rPr>
                              <m:nor/>
                            </m:rPr>
                            <a:rPr lang="en-US"/>
                            <m:t> </m:t>
                          </m:r>
                          <m:r>
                            <m:rPr>
                              <m:nor/>
                            </m:rPr>
                            <a:rPr lang="en-US"/>
                            <m:t>that</m:t>
                          </m:r>
                          <m:r>
                            <m:rPr>
                              <m:nor/>
                            </m:rPr>
                            <a:rPr lang="en-US"/>
                            <m:t> </m:t>
                          </m:r>
                          <m:r>
                            <m:rPr>
                              <m:nor/>
                            </m:rPr>
                            <a:rPr lang="en-US"/>
                            <m:t>hit</m:t>
                          </m:r>
                          <m:r>
                            <m:rPr>
                              <m:nor/>
                            </m:rPr>
                            <a:rPr lang="en-US"/>
                            <m:t> </m:t>
                          </m:r>
                          <m:r>
                            <m:rPr>
                              <m:nor/>
                            </m:rPr>
                            <a:rPr lang="en-US"/>
                            <m:t>it</m:t>
                          </m:r>
                        </m:den>
                      </m:f>
                      <m:r>
                        <a:rPr lang="ar-AE">
                          <a:latin typeface="Cambria Math" panose="02040503050406030204" pitchFamily="18" charset="0"/>
                        </a:rPr>
                        <m:t>.</m:t>
                      </m:r>
                    </m:oMath>
                  </m:oMathPara>
                </a14:m>
                <a:endParaRPr lang="ar-AE" dirty="0"/>
              </a:p>
              <a:p>
                <a:pPr marL="0" lvl="0" indent="0">
                  <a:buNone/>
                </a:pPr>
                <a:r>
                  <a:rPr lang="en-US" dirty="0"/>
                  <a:t>They use the Katz formula (1977): Nearly all of the energy lost by an incident electron goes into electronic excitations, and we assume the probability of an electronic excitation resulting in an escaped secondary varies exponentially with depth.</a:t>
                </a:r>
              </a:p>
              <a:p>
                <a:pPr marL="0" lvl="0" indent="0">
                  <a:buNone/>
                </a:pPr>
                <a14:m>
                  <m:oMathPara xmlns:m="http://schemas.openxmlformats.org/officeDocument/2006/math">
                    <m:oMathParaPr>
                      <m:jc m:val="center"/>
                    </m:oMathParaPr>
                    <m:oMath xmlns:m="http://schemas.openxmlformats.org/officeDocument/2006/math">
                      <m:m>
                        <m:mPr>
                          <m:plcHide m:val="on"/>
                          <m:mcs>
                            <m:mc>
                              <m:mcPr>
                                <m:count m:val="2"/>
                                <m:mcJc m:val="center"/>
                              </m:mcPr>
                            </m:mc>
                          </m:mcs>
                          <m:ctrlPr>
                            <a:rPr lang="ar-AE">
                              <a:latin typeface="Cambria Math" panose="02040503050406030204" pitchFamily="18" charset="0"/>
                            </a:rPr>
                          </m:ctrlPr>
                        </m:mPr>
                        <m:mr>
                          <m:e>
                            <m:r>
                              <a:rPr lang="ar-AE">
                                <a:latin typeface="Cambria Math" panose="02040503050406030204" pitchFamily="18" charset="0"/>
                              </a:rPr>
                              <m:t>𝛿</m:t>
                            </m:r>
                            <m:d>
                              <m:dPr>
                                <m:ctrlPr>
                                  <a:rPr lang="ar-AE" i="1">
                                    <a:latin typeface="Cambria Math" panose="02040503050406030204" pitchFamily="18" charset="0"/>
                                  </a:rPr>
                                </m:ctrlPr>
                              </m:dPr>
                              <m:e>
                                <m:r>
                                  <a:rPr lang="ar-AE">
                                    <a:latin typeface="Cambria Math" panose="02040503050406030204" pitchFamily="18" charset="0"/>
                                  </a:rPr>
                                  <m:t>𝐸</m:t>
                                </m:r>
                                <m:r>
                                  <a:rPr lang="ar-AE">
                                    <a:latin typeface="Cambria Math" panose="02040503050406030204" pitchFamily="18" charset="0"/>
                                  </a:rPr>
                                  <m:t>,</m:t>
                                </m:r>
                                <m:r>
                                  <a:rPr lang="ar-AE">
                                    <a:latin typeface="Cambria Math" panose="02040503050406030204" pitchFamily="18" charset="0"/>
                                  </a:rPr>
                                  <m:t>𝜃</m:t>
                                </m:r>
                              </m:e>
                            </m:d>
                          </m:e>
                          <m:e>
                            <m:r>
                              <a:rPr lang="ar-AE">
                                <a:latin typeface="Cambria Math" panose="02040503050406030204" pitchFamily="18" charset="0"/>
                              </a:rPr>
                              <m:t>=</m:t>
                            </m:r>
                            <m:sSub>
                              <m:sSubPr>
                                <m:ctrlPr>
                                  <a:rPr lang="ar-AE" i="1">
                                    <a:latin typeface="Cambria Math" panose="02040503050406030204" pitchFamily="18" charset="0"/>
                                  </a:rPr>
                                </m:ctrlPr>
                              </m:sSubPr>
                              <m:e>
                                <m:r>
                                  <a:rPr lang="ar-AE">
                                    <a:latin typeface="Cambria Math" panose="02040503050406030204" pitchFamily="18" charset="0"/>
                                  </a:rPr>
                                  <m:t>𝑐</m:t>
                                </m:r>
                              </m:e>
                              <m:sub>
                                <m:r>
                                  <a:rPr lang="ar-AE">
                                    <a:latin typeface="Cambria Math" panose="02040503050406030204" pitchFamily="18" charset="0"/>
                                  </a:rPr>
                                  <m:t>1</m:t>
                                </m:r>
                              </m:sub>
                            </m:sSub>
                            <m:nary>
                              <m:naryPr>
                                <m:limLoc m:val="subSup"/>
                                <m:ctrlPr>
                                  <a:rPr lang="ar-AE" i="1">
                                    <a:latin typeface="Cambria Math" panose="02040503050406030204" pitchFamily="18" charset="0"/>
                                  </a:rPr>
                                </m:ctrlPr>
                              </m:naryPr>
                              <m:sub>
                                <m:r>
                                  <a:rPr lang="ar-AE">
                                    <a:latin typeface="Cambria Math" panose="02040503050406030204" pitchFamily="18" charset="0"/>
                                  </a:rPr>
                                  <m:t>0</m:t>
                                </m:r>
                              </m:sub>
                              <m:sup>
                                <m:r>
                                  <a:rPr lang="ar-AE">
                                    <a:latin typeface="Cambria Math" panose="02040503050406030204" pitchFamily="18" charset="0"/>
                                  </a:rPr>
                                  <m:t>𝐸𝑑𝑅</m:t>
                                </m:r>
                                <m:r>
                                  <a:rPr lang="ar-AE">
                                    <a:latin typeface="Cambria Math" panose="02040503050406030204" pitchFamily="18" charset="0"/>
                                  </a:rPr>
                                  <m:t>/</m:t>
                                </m:r>
                                <m:r>
                                  <a:rPr lang="ar-AE">
                                    <a:latin typeface="Cambria Math" panose="02040503050406030204" pitchFamily="18" charset="0"/>
                                  </a:rPr>
                                  <m:t>𝑑𝐸</m:t>
                                </m:r>
                              </m:sup>
                              <m:e>
                                <m:sSup>
                                  <m:sSupPr>
                                    <m:ctrlPr>
                                      <a:rPr lang="ar-AE" i="1">
                                        <a:latin typeface="Cambria Math" panose="02040503050406030204" pitchFamily="18" charset="0"/>
                                      </a:rPr>
                                    </m:ctrlPr>
                                  </m:sSupPr>
                                  <m:e>
                                    <m:d>
                                      <m:dPr>
                                        <m:ctrlPr>
                                          <a:rPr lang="ar-AE" i="1">
                                            <a:latin typeface="Cambria Math" panose="02040503050406030204" pitchFamily="18" charset="0"/>
                                          </a:rPr>
                                        </m:ctrlPr>
                                      </m:dPr>
                                      <m:e>
                                        <m:f>
                                          <m:fPr>
                                            <m:ctrlPr>
                                              <a:rPr lang="ar-AE" i="1">
                                                <a:latin typeface="Cambria Math" panose="02040503050406030204" pitchFamily="18" charset="0"/>
                                              </a:rPr>
                                            </m:ctrlPr>
                                          </m:fPr>
                                          <m:num>
                                            <m:r>
                                              <a:rPr lang="ar-AE">
                                                <a:latin typeface="Cambria Math" panose="02040503050406030204" pitchFamily="18" charset="0"/>
                                              </a:rPr>
                                              <m:t>𝑑𝑅</m:t>
                                            </m:r>
                                          </m:num>
                                          <m:den>
                                            <m:r>
                                              <a:rPr lang="ar-AE">
                                                <a:latin typeface="Cambria Math" panose="02040503050406030204" pitchFamily="18" charset="0"/>
                                              </a:rPr>
                                              <m:t>𝑑𝐸</m:t>
                                            </m:r>
                                          </m:den>
                                        </m:f>
                                      </m:e>
                                    </m:d>
                                  </m:e>
                                  <m:sup>
                                    <m:r>
                                      <a:rPr lang="ar-AE">
                                        <a:latin typeface="Cambria Math" panose="02040503050406030204" pitchFamily="18" charset="0"/>
                                      </a:rPr>
                                      <m:t>−1</m:t>
                                    </m:r>
                                  </m:sup>
                                </m:sSup>
                              </m:e>
                            </m:nary>
                            <m:sSup>
                              <m:sSupPr>
                                <m:ctrlPr>
                                  <a:rPr lang="ar-AE" i="1">
                                    <a:latin typeface="Cambria Math" panose="02040503050406030204" pitchFamily="18" charset="0"/>
                                  </a:rPr>
                                </m:ctrlPr>
                              </m:sSupPr>
                              <m:e>
                                <m:r>
                                  <a:rPr lang="ar-AE">
                                    <a:latin typeface="Cambria Math" panose="02040503050406030204" pitchFamily="18" charset="0"/>
                                  </a:rPr>
                                  <m:t>𝑒</m:t>
                                </m:r>
                              </m:e>
                              <m:sup>
                                <m:r>
                                  <a:rPr lang="ar-AE">
                                    <a:latin typeface="Cambria Math" panose="02040503050406030204" pitchFamily="18" charset="0"/>
                                  </a:rPr>
                                  <m:t>−</m:t>
                                </m:r>
                                <m:sSub>
                                  <m:sSubPr>
                                    <m:ctrlPr>
                                      <a:rPr lang="ar-AE" i="1">
                                        <a:latin typeface="Cambria Math" panose="02040503050406030204" pitchFamily="18" charset="0"/>
                                      </a:rPr>
                                    </m:ctrlPr>
                                  </m:sSubPr>
                                  <m:e>
                                    <m:r>
                                      <a:rPr lang="ar-AE">
                                        <a:latin typeface="Cambria Math" panose="02040503050406030204" pitchFamily="18" charset="0"/>
                                      </a:rPr>
                                      <m:t>𝑐</m:t>
                                    </m:r>
                                  </m:e>
                                  <m:sub>
                                    <m:r>
                                      <a:rPr lang="ar-AE">
                                        <a:latin typeface="Cambria Math" panose="02040503050406030204" pitchFamily="18" charset="0"/>
                                      </a:rPr>
                                      <m:t>2</m:t>
                                    </m:r>
                                  </m:sub>
                                </m:sSub>
                                <m:r>
                                  <a:rPr lang="ar-AE">
                                    <a:latin typeface="Cambria Math" panose="02040503050406030204" pitchFamily="18" charset="0"/>
                                  </a:rPr>
                                  <m:t>𝑥</m:t>
                                </m:r>
                                <m:r>
                                  <m:rPr>
                                    <m:sty m:val="p"/>
                                  </m:rPr>
                                  <a:rPr lang="en-US">
                                    <a:latin typeface="Cambria Math" panose="02040503050406030204" pitchFamily="18" charset="0"/>
                                  </a:rPr>
                                  <m:t>cos</m:t>
                                </m:r>
                                <m:r>
                                  <a:rPr lang="en-US">
                                    <a:latin typeface="Cambria Math" panose="02040503050406030204" pitchFamily="18" charset="0"/>
                                  </a:rPr>
                                  <m:t>𝜃</m:t>
                                </m:r>
                              </m:sup>
                            </m:sSup>
                            <m:r>
                              <a:rPr lang="ar-AE">
                                <a:latin typeface="Cambria Math" panose="02040503050406030204" pitchFamily="18" charset="0"/>
                              </a:rPr>
                              <m:t>𝑑𝑥</m:t>
                            </m:r>
                          </m:e>
                        </m:mr>
                        <m:mr>
                          <m:e/>
                          <m:e>
                            <m:r>
                              <a:rPr lang="ar-AE">
                                <a:latin typeface="Cambria Math" panose="02040503050406030204" pitchFamily="18" charset="0"/>
                              </a:rPr>
                              <m:t>=</m:t>
                            </m:r>
                            <m:f>
                              <m:fPr>
                                <m:ctrlPr>
                                  <a:rPr lang="ar-AE" i="1">
                                    <a:latin typeface="Cambria Math" panose="02040503050406030204" pitchFamily="18" charset="0"/>
                                  </a:rPr>
                                </m:ctrlPr>
                              </m:fPr>
                              <m:num>
                                <m:sSub>
                                  <m:sSubPr>
                                    <m:ctrlPr>
                                      <a:rPr lang="ar-AE" i="1">
                                        <a:latin typeface="Cambria Math" panose="02040503050406030204" pitchFamily="18" charset="0"/>
                                      </a:rPr>
                                    </m:ctrlPr>
                                  </m:sSubPr>
                                  <m:e>
                                    <m:r>
                                      <a:rPr lang="ar-AE">
                                        <a:latin typeface="Cambria Math" panose="02040503050406030204" pitchFamily="18" charset="0"/>
                                      </a:rPr>
                                      <m:t>𝑐</m:t>
                                    </m:r>
                                  </m:e>
                                  <m:sub>
                                    <m:r>
                                      <a:rPr lang="ar-AE">
                                        <a:latin typeface="Cambria Math" panose="02040503050406030204" pitchFamily="18" charset="0"/>
                                      </a:rPr>
                                      <m:t>1</m:t>
                                    </m:r>
                                  </m:sub>
                                </m:sSub>
                                <m:d>
                                  <m:dPr>
                                    <m:begChr m:val="["/>
                                    <m:endChr m:val="]"/>
                                    <m:ctrlPr>
                                      <a:rPr lang="ar-AE" i="1">
                                        <a:latin typeface="Cambria Math" panose="02040503050406030204" pitchFamily="18" charset="0"/>
                                      </a:rPr>
                                    </m:ctrlPr>
                                  </m:dPr>
                                  <m:e>
                                    <m:r>
                                      <a:rPr lang="ar-AE">
                                        <a:latin typeface="Cambria Math" panose="02040503050406030204" pitchFamily="18" charset="0"/>
                                      </a:rPr>
                                      <m:t>1−</m:t>
                                    </m:r>
                                    <m:r>
                                      <m:rPr>
                                        <m:sty m:val="p"/>
                                      </m:rPr>
                                      <a:rPr lang="en-US">
                                        <a:latin typeface="Cambria Math" panose="02040503050406030204" pitchFamily="18" charset="0"/>
                                      </a:rPr>
                                      <m:t>exp</m:t>
                                    </m:r>
                                    <m:d>
                                      <m:dPr>
                                        <m:ctrlPr>
                                          <a:rPr lang="ar-AE" i="1">
                                            <a:latin typeface="Cambria Math" panose="02040503050406030204" pitchFamily="18" charset="0"/>
                                          </a:rPr>
                                        </m:ctrlPr>
                                      </m:dPr>
                                      <m:e>
                                        <m:r>
                                          <a:rPr lang="ar-AE">
                                            <a:latin typeface="Cambria Math" panose="02040503050406030204" pitchFamily="18" charset="0"/>
                                          </a:rPr>
                                          <m:t>−</m:t>
                                        </m:r>
                                        <m:sSub>
                                          <m:sSubPr>
                                            <m:ctrlPr>
                                              <a:rPr lang="ar-AE" i="1">
                                                <a:latin typeface="Cambria Math" panose="02040503050406030204" pitchFamily="18" charset="0"/>
                                              </a:rPr>
                                            </m:ctrlPr>
                                          </m:sSubPr>
                                          <m:e>
                                            <m:r>
                                              <a:rPr lang="ar-AE">
                                                <a:latin typeface="Cambria Math" panose="02040503050406030204" pitchFamily="18" charset="0"/>
                                              </a:rPr>
                                              <m:t>𝑐</m:t>
                                            </m:r>
                                          </m:e>
                                          <m:sub>
                                            <m:r>
                                              <a:rPr lang="ar-AE">
                                                <a:latin typeface="Cambria Math" panose="02040503050406030204" pitchFamily="18" charset="0"/>
                                              </a:rPr>
                                              <m:t>2</m:t>
                                            </m:r>
                                          </m:sub>
                                        </m:sSub>
                                        <m:r>
                                          <m:rPr>
                                            <m:sty m:val="p"/>
                                          </m:rPr>
                                          <a:rPr lang="en-US">
                                            <a:latin typeface="Cambria Math" panose="02040503050406030204" pitchFamily="18" charset="0"/>
                                          </a:rPr>
                                          <m:t>cos</m:t>
                                        </m:r>
                                        <m:r>
                                          <a:rPr lang="en-US">
                                            <a:latin typeface="Cambria Math" panose="02040503050406030204" pitchFamily="18" charset="0"/>
                                          </a:rPr>
                                          <m:t>𝜃</m:t>
                                        </m:r>
                                        <m:r>
                                          <a:rPr lang="en-US">
                                            <a:latin typeface="Cambria Math" panose="02040503050406030204" pitchFamily="18" charset="0"/>
                                          </a:rPr>
                                          <m:t>𝐸𝑑𝑅</m:t>
                                        </m:r>
                                        <m:r>
                                          <a:rPr lang="en-US">
                                            <a:latin typeface="Cambria Math" panose="02040503050406030204" pitchFamily="18" charset="0"/>
                                          </a:rPr>
                                          <m:t>/</m:t>
                                        </m:r>
                                        <m:r>
                                          <a:rPr lang="en-US">
                                            <a:latin typeface="Cambria Math" panose="02040503050406030204" pitchFamily="18" charset="0"/>
                                          </a:rPr>
                                          <m:t>𝑑𝐸</m:t>
                                        </m:r>
                                      </m:e>
                                    </m:d>
                                  </m:e>
                                </m:d>
                              </m:num>
                              <m:den>
                                <m:sSub>
                                  <m:sSubPr>
                                    <m:ctrlPr>
                                      <a:rPr lang="ar-AE" i="1">
                                        <a:latin typeface="Cambria Math" panose="02040503050406030204" pitchFamily="18" charset="0"/>
                                      </a:rPr>
                                    </m:ctrlPr>
                                  </m:sSubPr>
                                  <m:e>
                                    <m:r>
                                      <a:rPr lang="ar-AE">
                                        <a:latin typeface="Cambria Math" panose="02040503050406030204" pitchFamily="18" charset="0"/>
                                      </a:rPr>
                                      <m:t>𝑐</m:t>
                                    </m:r>
                                  </m:e>
                                  <m:sub>
                                    <m:r>
                                      <a:rPr lang="ar-AE">
                                        <a:latin typeface="Cambria Math" panose="02040503050406030204" pitchFamily="18" charset="0"/>
                                      </a:rPr>
                                      <m:t>2</m:t>
                                    </m:r>
                                  </m:sub>
                                </m:sSub>
                                <m:r>
                                  <m:rPr>
                                    <m:sty m:val="p"/>
                                  </m:rPr>
                                  <a:rPr lang="en-US">
                                    <a:latin typeface="Cambria Math" panose="02040503050406030204" pitchFamily="18" charset="0"/>
                                  </a:rPr>
                                  <m:t>cos</m:t>
                                </m:r>
                                <m:r>
                                  <a:rPr lang="en-US">
                                    <a:latin typeface="Cambria Math" panose="02040503050406030204" pitchFamily="18" charset="0"/>
                                  </a:rPr>
                                  <m:t>𝜃</m:t>
                                </m:r>
                                <m:r>
                                  <a:rPr lang="en-US">
                                    <a:latin typeface="Cambria Math" panose="02040503050406030204" pitchFamily="18" charset="0"/>
                                  </a:rPr>
                                  <m:t>𝑑𝑅</m:t>
                                </m:r>
                                <m:r>
                                  <a:rPr lang="en-US">
                                    <a:latin typeface="Cambria Math" panose="02040503050406030204" pitchFamily="18" charset="0"/>
                                  </a:rPr>
                                  <m:t>/</m:t>
                                </m:r>
                                <m:r>
                                  <a:rPr lang="en-US">
                                    <a:latin typeface="Cambria Math" panose="02040503050406030204" pitchFamily="18" charset="0"/>
                                  </a:rPr>
                                  <m:t>𝑑𝐸</m:t>
                                </m:r>
                              </m:den>
                            </m:f>
                          </m:e>
                        </m:mr>
                      </m:m>
                    </m:oMath>
                  </m:oMathPara>
                </a14:m>
                <a:endParaRPr lang="ar-AE" dirty="0"/>
              </a:p>
              <a:p>
                <a:pPr marL="0" lvl="0" indent="0">
                  <a:buNone/>
                </a:pPr>
                <a:r>
                  <a:rPr lang="en-US" dirty="0"/>
                  <a:t>The angle averaged yield then becomes </a:t>
                </a:r>
                <a14:m>
                  <m:oMath xmlns:m="http://schemas.openxmlformats.org/officeDocument/2006/math">
                    <m:acc>
                      <m:accPr>
                        <m:chr m:val="‾"/>
                        <m:ctrlPr>
                          <a:rPr lang="ar-AE">
                            <a:latin typeface="Cambria Math" panose="02040503050406030204" pitchFamily="18" charset="0"/>
                          </a:rPr>
                        </m:ctrlPr>
                      </m:accPr>
                      <m:e>
                        <m:r>
                          <a:rPr lang="ar-AE">
                            <a:latin typeface="Cambria Math" panose="02040503050406030204" pitchFamily="18" charset="0"/>
                          </a:rPr>
                          <m:t>𝛿</m:t>
                        </m:r>
                      </m:e>
                    </m:acc>
                    <m:d>
                      <m:dPr>
                        <m:ctrlPr>
                          <a:rPr lang="ar-AE" i="1">
                            <a:latin typeface="Cambria Math" panose="02040503050406030204" pitchFamily="18" charset="0"/>
                          </a:rPr>
                        </m:ctrlPr>
                      </m:dPr>
                      <m:e>
                        <m:r>
                          <a:rPr lang="ar-AE">
                            <a:latin typeface="Cambria Math" panose="02040503050406030204" pitchFamily="18" charset="0"/>
                          </a:rPr>
                          <m:t>𝐸</m:t>
                        </m:r>
                      </m:e>
                    </m:d>
                    <m:r>
                      <a:rPr lang="ar-AE">
                        <a:latin typeface="Cambria Math" panose="02040503050406030204" pitchFamily="18" charset="0"/>
                      </a:rPr>
                      <m:t>=2</m:t>
                    </m:r>
                    <m:sSub>
                      <m:sSubPr>
                        <m:ctrlPr>
                          <a:rPr lang="ar-AE" i="1">
                            <a:latin typeface="Cambria Math" panose="02040503050406030204" pitchFamily="18" charset="0"/>
                          </a:rPr>
                        </m:ctrlPr>
                      </m:sSubPr>
                      <m:e>
                        <m:r>
                          <a:rPr lang="ar-AE">
                            <a:latin typeface="Cambria Math" panose="02040503050406030204" pitchFamily="18" charset="0"/>
                          </a:rPr>
                          <m:t>𝑐</m:t>
                        </m:r>
                      </m:e>
                      <m:sub>
                        <m:r>
                          <a:rPr lang="ar-AE">
                            <a:latin typeface="Cambria Math" panose="02040503050406030204" pitchFamily="18" charset="0"/>
                          </a:rPr>
                          <m:t>1</m:t>
                        </m:r>
                      </m:sub>
                    </m:sSub>
                    <m:r>
                      <a:rPr lang="ar-AE">
                        <a:latin typeface="Cambria Math" panose="02040503050406030204" pitchFamily="18" charset="0"/>
                      </a:rPr>
                      <m:t>𝐸</m:t>
                    </m:r>
                    <m:d>
                      <m:dPr>
                        <m:ctrlPr>
                          <a:rPr lang="ar-AE" i="1">
                            <a:latin typeface="Cambria Math" panose="02040503050406030204" pitchFamily="18" charset="0"/>
                          </a:rPr>
                        </m:ctrlPr>
                      </m:dPr>
                      <m:e>
                        <m:r>
                          <a:rPr lang="ar-AE">
                            <a:latin typeface="Cambria Math" panose="02040503050406030204" pitchFamily="18" charset="0"/>
                          </a:rPr>
                          <m:t>𝑄</m:t>
                        </m:r>
                        <m:r>
                          <a:rPr lang="ar-AE">
                            <a:latin typeface="Cambria Math" panose="02040503050406030204" pitchFamily="18" charset="0"/>
                          </a:rPr>
                          <m:t>−1+</m:t>
                        </m:r>
                        <m:r>
                          <m:rPr>
                            <m:sty m:val="p"/>
                          </m:rPr>
                          <a:rPr lang="en-US">
                            <a:latin typeface="Cambria Math" panose="02040503050406030204" pitchFamily="18" charset="0"/>
                          </a:rPr>
                          <m:t>exp</m:t>
                        </m:r>
                        <m:d>
                          <m:dPr>
                            <m:ctrlPr>
                              <a:rPr lang="ar-AE" i="1">
                                <a:latin typeface="Cambria Math" panose="02040503050406030204" pitchFamily="18" charset="0"/>
                              </a:rPr>
                            </m:ctrlPr>
                          </m:dPr>
                          <m:e>
                            <m:r>
                              <a:rPr lang="ar-AE">
                                <a:latin typeface="Cambria Math" panose="02040503050406030204" pitchFamily="18" charset="0"/>
                              </a:rPr>
                              <m:t>−</m:t>
                            </m:r>
                            <m:r>
                              <a:rPr lang="ar-AE">
                                <a:latin typeface="Cambria Math" panose="02040503050406030204" pitchFamily="18" charset="0"/>
                              </a:rPr>
                              <m:t>𝑄</m:t>
                            </m:r>
                          </m:e>
                        </m:d>
                      </m:e>
                    </m:d>
                    <m:r>
                      <a:rPr lang="ar-AE">
                        <a:latin typeface="Cambria Math" panose="02040503050406030204" pitchFamily="18" charset="0"/>
                      </a:rPr>
                      <m:t>/</m:t>
                    </m:r>
                    <m:sSup>
                      <m:sSupPr>
                        <m:ctrlPr>
                          <a:rPr lang="ar-AE" i="1">
                            <a:latin typeface="Cambria Math" panose="02040503050406030204" pitchFamily="18" charset="0"/>
                          </a:rPr>
                        </m:ctrlPr>
                      </m:sSupPr>
                      <m:e>
                        <m:r>
                          <a:rPr lang="ar-AE">
                            <a:latin typeface="Cambria Math" panose="02040503050406030204" pitchFamily="18" charset="0"/>
                          </a:rPr>
                          <m:t>𝑄</m:t>
                        </m:r>
                      </m:e>
                      <m:sup>
                        <m:r>
                          <a:rPr lang="ar-AE">
                            <a:latin typeface="Cambria Math" panose="02040503050406030204" pitchFamily="18" charset="0"/>
                          </a:rPr>
                          <m:t>2</m:t>
                        </m:r>
                      </m:sup>
                    </m:sSup>
                  </m:oMath>
                </a14:m>
                <a:endParaRPr lang="en-US" dirty="0"/>
              </a:p>
              <a:p>
                <a:pPr marL="0" lvl="0" indent="0">
                  <a:buNone/>
                </a:pPr>
                <a:endParaRPr lang="ar-AE" dirty="0"/>
              </a:p>
              <a:p>
                <a:pPr marL="0" lvl="0" indent="0">
                  <a:buNone/>
                </a:pPr>
                <a14:m>
                  <m:oMathPara xmlns:m="http://schemas.openxmlformats.org/officeDocument/2006/math">
                    <m:oMathParaPr>
                      <m:jc m:val="center"/>
                    </m:oMathParaPr>
                    <m:oMath xmlns:m="http://schemas.openxmlformats.org/officeDocument/2006/math">
                      <m:r>
                        <a:rPr lang="ar-AE">
                          <a:latin typeface="Cambria Math" panose="02040503050406030204" pitchFamily="18" charset="0"/>
                        </a:rPr>
                        <m:t>𝛿</m:t>
                      </m:r>
                      <m:d>
                        <m:dPr>
                          <m:ctrlPr>
                            <a:rPr lang="ar-AE" i="1">
                              <a:latin typeface="Cambria Math" panose="02040503050406030204" pitchFamily="18" charset="0"/>
                            </a:rPr>
                          </m:ctrlPr>
                        </m:dPr>
                        <m:e>
                          <m:r>
                            <a:rPr lang="ar-AE">
                              <a:latin typeface="Cambria Math" panose="02040503050406030204" pitchFamily="18" charset="0"/>
                            </a:rPr>
                            <m:t>𝐸</m:t>
                          </m:r>
                        </m:e>
                      </m:d>
                      <m:r>
                        <a:rPr lang="ar-AE">
                          <a:latin typeface="Cambria Math" panose="02040503050406030204" pitchFamily="18" charset="0"/>
                        </a:rPr>
                        <m:t>=5.08</m:t>
                      </m:r>
                      <m:r>
                        <a:rPr lang="ar-AE" b="0" i="1" smtClean="0">
                          <a:latin typeface="Cambria Math" panose="02040503050406030204" pitchFamily="18" charset="0"/>
                        </a:rPr>
                        <m:t> </m:t>
                      </m:r>
                      <m:sSub>
                        <m:sSubPr>
                          <m:ctrlPr>
                            <a:rPr lang="ar-AE" i="1">
                              <a:latin typeface="Cambria Math" panose="02040503050406030204" pitchFamily="18" charset="0"/>
                            </a:rPr>
                          </m:ctrlPr>
                        </m:sSubPr>
                        <m:e>
                          <m:r>
                            <a:rPr lang="ar-AE">
                              <a:latin typeface="Cambria Math" panose="02040503050406030204" pitchFamily="18" charset="0"/>
                            </a:rPr>
                            <m:t>𝛿</m:t>
                          </m:r>
                        </m:e>
                        <m:sub>
                          <m:r>
                            <m:rPr>
                              <m:sty m:val="p"/>
                            </m:rPr>
                            <a:rPr lang="en-US">
                              <a:latin typeface="Cambria Math" panose="02040503050406030204" pitchFamily="18" charset="0"/>
                            </a:rPr>
                            <m:t>max</m:t>
                          </m:r>
                        </m:sub>
                      </m:sSub>
                      <m:f>
                        <m:fPr>
                          <m:ctrlPr>
                            <a:rPr lang="ar-AE" i="1">
                              <a:latin typeface="Cambria Math" panose="02040503050406030204" pitchFamily="18" charset="0"/>
                            </a:rPr>
                          </m:ctrlPr>
                        </m:fPr>
                        <m:num>
                          <m:r>
                            <a:rPr lang="ar-AE">
                              <a:latin typeface="Cambria Math" panose="02040503050406030204" pitchFamily="18" charset="0"/>
                            </a:rPr>
                            <m:t>𝐸</m:t>
                          </m:r>
                        </m:num>
                        <m:den>
                          <m:sSub>
                            <m:sSubPr>
                              <m:ctrlPr>
                                <a:rPr lang="ar-AE" i="1">
                                  <a:latin typeface="Cambria Math" panose="02040503050406030204" pitchFamily="18" charset="0"/>
                                </a:rPr>
                              </m:ctrlPr>
                            </m:sSubPr>
                            <m:e>
                              <m:r>
                                <a:rPr lang="ar-AE">
                                  <a:latin typeface="Cambria Math" panose="02040503050406030204" pitchFamily="18" charset="0"/>
                                </a:rPr>
                                <m:t>𝐸</m:t>
                              </m:r>
                            </m:e>
                            <m:sub>
                              <m:r>
                                <m:rPr>
                                  <m:sty m:val="p"/>
                                </m:rPr>
                                <a:rPr lang="en-US">
                                  <a:latin typeface="Cambria Math" panose="02040503050406030204" pitchFamily="18" charset="0"/>
                                </a:rPr>
                                <m:t>max</m:t>
                              </m:r>
                            </m:sub>
                          </m:sSub>
                        </m:den>
                      </m:f>
                      <m:f>
                        <m:fPr>
                          <m:ctrlPr>
                            <a:rPr lang="ar-AE" i="1">
                              <a:latin typeface="Cambria Math" panose="02040503050406030204" pitchFamily="18" charset="0"/>
                            </a:rPr>
                          </m:ctrlPr>
                        </m:fPr>
                        <m:num>
                          <m:r>
                            <a:rPr lang="ar-AE">
                              <a:latin typeface="Cambria Math" panose="02040503050406030204" pitchFamily="18" charset="0"/>
                            </a:rPr>
                            <m:t>𝑄</m:t>
                          </m:r>
                          <m:r>
                            <a:rPr lang="ar-AE">
                              <a:latin typeface="Cambria Math" panose="02040503050406030204" pitchFamily="18" charset="0"/>
                            </a:rPr>
                            <m:t>−1+</m:t>
                          </m:r>
                          <m:sSup>
                            <m:sSupPr>
                              <m:ctrlPr>
                                <a:rPr lang="ar-AE" i="1">
                                  <a:latin typeface="Cambria Math" panose="02040503050406030204" pitchFamily="18" charset="0"/>
                                </a:rPr>
                              </m:ctrlPr>
                            </m:sSupPr>
                            <m:e>
                              <m:r>
                                <a:rPr lang="ar-AE">
                                  <a:latin typeface="Cambria Math" panose="02040503050406030204" pitchFamily="18" charset="0"/>
                                </a:rPr>
                                <m:t>𝑒</m:t>
                              </m:r>
                            </m:e>
                            <m:sup>
                              <m:r>
                                <a:rPr lang="ar-AE">
                                  <a:latin typeface="Cambria Math" panose="02040503050406030204" pitchFamily="18" charset="0"/>
                                </a:rPr>
                                <m:t>−</m:t>
                              </m:r>
                              <m:r>
                                <a:rPr lang="ar-AE">
                                  <a:latin typeface="Cambria Math" panose="02040503050406030204" pitchFamily="18" charset="0"/>
                                </a:rPr>
                                <m:t>𝑄</m:t>
                              </m:r>
                            </m:sup>
                          </m:sSup>
                        </m:num>
                        <m:den>
                          <m:sSup>
                            <m:sSupPr>
                              <m:ctrlPr>
                                <a:rPr lang="ar-AE" i="1">
                                  <a:latin typeface="Cambria Math" panose="02040503050406030204" pitchFamily="18" charset="0"/>
                                </a:rPr>
                              </m:ctrlPr>
                            </m:sSupPr>
                            <m:e>
                              <m:r>
                                <a:rPr lang="ar-AE">
                                  <a:latin typeface="Cambria Math" panose="02040503050406030204" pitchFamily="18" charset="0"/>
                                </a:rPr>
                                <m:t>𝑄</m:t>
                              </m:r>
                            </m:e>
                            <m:sup>
                              <m:r>
                                <a:rPr lang="ar-AE">
                                  <a:latin typeface="Cambria Math" panose="02040503050406030204" pitchFamily="18" charset="0"/>
                                </a:rPr>
                                <m:t>2</m:t>
                              </m:r>
                            </m:sup>
                          </m:sSup>
                        </m:den>
                      </m:f>
                      <m:r>
                        <a:rPr lang="ar-AE">
                          <a:latin typeface="Cambria Math" panose="02040503050406030204" pitchFamily="18" charset="0"/>
                        </a:rPr>
                        <m:t>, </m:t>
                      </m:r>
                      <m:r>
                        <a:rPr lang="ar-AE">
                          <a:latin typeface="Cambria Math" panose="02040503050406030204" pitchFamily="18" charset="0"/>
                        </a:rPr>
                        <m:t>𝑄</m:t>
                      </m:r>
                      <m:r>
                        <a:rPr lang="ar-AE">
                          <a:latin typeface="Cambria Math" panose="02040503050406030204" pitchFamily="18" charset="0"/>
                        </a:rPr>
                        <m:t>=2.28</m:t>
                      </m:r>
                      <m:sSup>
                        <m:sSupPr>
                          <m:ctrlPr>
                            <a:rPr lang="ar-AE" i="1">
                              <a:latin typeface="Cambria Math" panose="02040503050406030204" pitchFamily="18" charset="0"/>
                            </a:rPr>
                          </m:ctrlPr>
                        </m:sSupPr>
                        <m:e>
                          <m:d>
                            <m:dPr>
                              <m:ctrlPr>
                                <a:rPr lang="ar-AE" i="1">
                                  <a:latin typeface="Cambria Math" panose="02040503050406030204" pitchFamily="18" charset="0"/>
                                </a:rPr>
                              </m:ctrlPr>
                            </m:dPr>
                            <m:e>
                              <m:f>
                                <m:fPr>
                                  <m:ctrlPr>
                                    <a:rPr lang="ar-AE" i="1">
                                      <a:latin typeface="Cambria Math" panose="02040503050406030204" pitchFamily="18" charset="0"/>
                                    </a:rPr>
                                  </m:ctrlPr>
                                </m:fPr>
                                <m:num>
                                  <m:r>
                                    <a:rPr lang="ar-AE">
                                      <a:latin typeface="Cambria Math" panose="02040503050406030204" pitchFamily="18" charset="0"/>
                                    </a:rPr>
                                    <m:t>𝐸</m:t>
                                  </m:r>
                                </m:num>
                                <m:den>
                                  <m:sSub>
                                    <m:sSubPr>
                                      <m:ctrlPr>
                                        <a:rPr lang="ar-AE" i="1">
                                          <a:latin typeface="Cambria Math" panose="02040503050406030204" pitchFamily="18" charset="0"/>
                                        </a:rPr>
                                      </m:ctrlPr>
                                    </m:sSubPr>
                                    <m:e>
                                      <m:r>
                                        <a:rPr lang="ar-AE">
                                          <a:latin typeface="Cambria Math" panose="02040503050406030204" pitchFamily="18" charset="0"/>
                                        </a:rPr>
                                        <m:t>𝐸</m:t>
                                      </m:r>
                                    </m:e>
                                    <m:sub>
                                      <m:r>
                                        <m:rPr>
                                          <m:sty m:val="p"/>
                                        </m:rPr>
                                        <a:rPr lang="en-US">
                                          <a:latin typeface="Cambria Math" panose="02040503050406030204" pitchFamily="18" charset="0"/>
                                        </a:rPr>
                                        <m:t>max</m:t>
                                      </m:r>
                                    </m:sub>
                                  </m:sSub>
                                </m:den>
                              </m:f>
                            </m:e>
                          </m:d>
                        </m:e>
                        <m:sup>
                          <m:r>
                            <a:rPr lang="ar-AE">
                              <a:latin typeface="Cambria Math" panose="02040503050406030204" pitchFamily="18" charset="0"/>
                            </a:rPr>
                            <m:t>1.35</m:t>
                          </m:r>
                        </m:sup>
                      </m:sSup>
                    </m:oMath>
                  </m:oMathPara>
                </a14:m>
                <a:endParaRPr lang="ar-AE" dirty="0"/>
              </a:p>
              <a:p>
                <a:pPr marL="0" lvl="0" indent="0">
                  <a:buNone/>
                </a:pPr>
                <a:endParaRPr lang="ar-AE" dirty="0"/>
              </a:p>
              <a:p>
                <a:pPr marL="0" lvl="0" indent="0">
                  <a:buNone/>
                </a:pPr>
                <a:r>
                  <a:rPr lang="en-US" dirty="0"/>
                  <a:t>They adopt:</a:t>
                </a:r>
              </a:p>
              <a:p>
                <a:pPr lvl="0"/>
                <a:r>
                  <a:rPr lang="en-US" dirty="0"/>
                  <a:t>the peak value of the yield: </a:t>
                </a:r>
                <a14:m>
                  <m:oMath xmlns:m="http://schemas.openxmlformats.org/officeDocument/2006/math">
                    <m:sSub>
                      <m:sSubPr>
                        <m:ctrlPr>
                          <a:rPr lang="ar-AE">
                            <a:latin typeface="Cambria Math" panose="02040503050406030204" pitchFamily="18" charset="0"/>
                          </a:rPr>
                        </m:ctrlPr>
                      </m:sSubPr>
                      <m:e>
                        <m:r>
                          <a:rPr lang="ar-AE">
                            <a:latin typeface="Cambria Math" panose="02040503050406030204" pitchFamily="18" charset="0"/>
                          </a:rPr>
                          <m:t>𝛿</m:t>
                        </m:r>
                      </m:e>
                      <m:sub>
                        <m:r>
                          <m:rPr>
                            <m:sty m:val="p"/>
                          </m:rPr>
                          <a:rPr lang="en-US">
                            <a:latin typeface="Cambria Math" panose="02040503050406030204" pitchFamily="18" charset="0"/>
                          </a:rPr>
                          <m:t>max</m:t>
                        </m:r>
                      </m:sub>
                    </m:sSub>
                    <m:r>
                      <a:rPr lang="ar-AE">
                        <a:latin typeface="Cambria Math" panose="02040503050406030204" pitchFamily="18" charset="0"/>
                      </a:rPr>
                      <m:t>=0.78</m:t>
                    </m:r>
                  </m:oMath>
                </a14:m>
                <a:r>
                  <a:rPr lang="ar-AE" dirty="0"/>
                  <a:t> (</a:t>
                </a:r>
                <a:r>
                  <a:rPr lang="en-US" dirty="0"/>
                  <a:t>reduced from lab ice due to roughness)</a:t>
                </a:r>
              </a:p>
              <a:p>
                <a:pPr lvl="0"/>
                <a:r>
                  <a:rPr lang="en-US" dirty="0"/>
                  <a:t>the energy at which emission peaks: </a:t>
                </a:r>
                <a14:m>
                  <m:oMath xmlns:m="http://schemas.openxmlformats.org/officeDocument/2006/math">
                    <m:sSub>
                      <m:sSubPr>
                        <m:ctrlPr>
                          <a:rPr lang="ar-AE">
                            <a:latin typeface="Cambria Math" panose="02040503050406030204" pitchFamily="18" charset="0"/>
                          </a:rPr>
                        </m:ctrlPr>
                      </m:sSubPr>
                      <m:e>
                        <m:r>
                          <a:rPr lang="ar-AE">
                            <a:latin typeface="Cambria Math" panose="02040503050406030204" pitchFamily="18" charset="0"/>
                          </a:rPr>
                          <m:t>𝐸</m:t>
                        </m:r>
                      </m:e>
                      <m:sub>
                        <m:r>
                          <m:rPr>
                            <m:sty m:val="p"/>
                          </m:rPr>
                          <a:rPr lang="en-US">
                            <a:latin typeface="Cambria Math" panose="02040503050406030204" pitchFamily="18" charset="0"/>
                          </a:rPr>
                          <m:t>max</m:t>
                        </m:r>
                      </m:sub>
                    </m:sSub>
                    <m:r>
                      <a:rPr lang="ar-AE">
                        <a:latin typeface="Cambria Math" panose="02040503050406030204" pitchFamily="18" charset="0"/>
                      </a:rPr>
                      <m:t>=340</m:t>
                    </m:r>
                  </m:oMath>
                </a14:m>
                <a:r>
                  <a:rPr lang="ar-AE" dirty="0"/>
                  <a:t> </a:t>
                </a:r>
                <a:r>
                  <a:rPr lang="en-US" dirty="0"/>
                  <a:t>eV</a:t>
                </a:r>
              </a:p>
              <a:p>
                <a:pPr lvl="0"/>
                <a:r>
                  <a:rPr lang="en-US" dirty="0"/>
                  <a:t>a nonlinear measure of how deeply electrons penetrate into the surface: </a:t>
                </a:r>
                <a14:m>
                  <m:oMath xmlns:m="http://schemas.openxmlformats.org/officeDocument/2006/math">
                    <m:r>
                      <a:rPr lang="en-US">
                        <a:latin typeface="Cambria Math" panose="02040503050406030204" pitchFamily="18" charset="0"/>
                      </a:rPr>
                      <m:t>𝑄</m:t>
                    </m:r>
                    <m:r>
                      <a:rPr lang="en-US">
                        <a:latin typeface="Cambria Math" panose="02040503050406030204" pitchFamily="18" charset="0"/>
                      </a:rPr>
                      <m:t>=2.28</m:t>
                    </m:r>
                    <m:sSup>
                      <m:sSupPr>
                        <m:ctrlPr>
                          <a:rPr lang="ar-AE" i="1">
                            <a:latin typeface="Cambria Math" panose="02040503050406030204" pitchFamily="18" charset="0"/>
                          </a:rPr>
                        </m:ctrlPr>
                      </m:sSupPr>
                      <m:e>
                        <m:d>
                          <m:dPr>
                            <m:ctrlPr>
                              <a:rPr lang="ar-AE" i="1">
                                <a:latin typeface="Cambria Math" panose="02040503050406030204" pitchFamily="18" charset="0"/>
                              </a:rPr>
                            </m:ctrlPr>
                          </m:dPr>
                          <m:e>
                            <m:f>
                              <m:fPr>
                                <m:ctrlPr>
                                  <a:rPr lang="ar-AE" i="1">
                                    <a:latin typeface="Cambria Math" panose="02040503050406030204" pitchFamily="18" charset="0"/>
                                  </a:rPr>
                                </m:ctrlPr>
                              </m:fPr>
                              <m:num>
                                <m:r>
                                  <a:rPr lang="ar-AE">
                                    <a:latin typeface="Cambria Math" panose="02040503050406030204" pitchFamily="18" charset="0"/>
                                  </a:rPr>
                                  <m:t>𝐸</m:t>
                                </m:r>
                              </m:num>
                              <m:den>
                                <m:sSub>
                                  <m:sSubPr>
                                    <m:ctrlPr>
                                      <a:rPr lang="ar-AE" i="1">
                                        <a:latin typeface="Cambria Math" panose="02040503050406030204" pitchFamily="18" charset="0"/>
                                      </a:rPr>
                                    </m:ctrlPr>
                                  </m:sSubPr>
                                  <m:e>
                                    <m:r>
                                      <a:rPr lang="ar-AE">
                                        <a:latin typeface="Cambria Math" panose="02040503050406030204" pitchFamily="18" charset="0"/>
                                      </a:rPr>
                                      <m:t>𝐸</m:t>
                                    </m:r>
                                  </m:e>
                                  <m:sub>
                                    <m:r>
                                      <m:rPr>
                                        <m:sty m:val="p"/>
                                      </m:rPr>
                                      <a:rPr lang="en-US">
                                        <a:latin typeface="Cambria Math" panose="02040503050406030204" pitchFamily="18" charset="0"/>
                                      </a:rPr>
                                      <m:t>max</m:t>
                                    </m:r>
                                  </m:sub>
                                </m:sSub>
                              </m:den>
                            </m:f>
                          </m:e>
                        </m:d>
                      </m:e>
                      <m:sup>
                        <m:r>
                          <a:rPr lang="ar-AE">
                            <a:latin typeface="Cambria Math" panose="02040503050406030204" pitchFamily="18" charset="0"/>
                          </a:rPr>
                          <m:t>1.35</m:t>
                        </m:r>
                      </m:sup>
                    </m:sSup>
                  </m:oMath>
                </a14:m>
                <a:endParaRPr dirty="0"/>
              </a:p>
            </p:txBody>
          </p:sp>
        </mc:Choice>
        <mc:Fallback>
          <p:sp>
            <p:nvSpPr>
              <p:cNvPr id="3" name="Content Placeholder 2">
                <a:extLst>
                  <a:ext uri="{FF2B5EF4-FFF2-40B4-BE49-F238E27FC236}">
                    <a16:creationId xmlns:a16="http://schemas.microsoft.com/office/drawing/2014/main" id="{62A3506D-7089-981A-3D95-DA6C7A4992ED}"/>
                  </a:ext>
                </a:extLst>
              </p:cNvPr>
              <p:cNvSpPr>
                <a:spLocks noGrp="1" noRot="1" noChangeAspect="1" noMove="1" noResize="1" noEditPoints="1" noAdjustHandles="1" noChangeArrowheads="1" noChangeShapeType="1" noTextEdit="1"/>
              </p:cNvSpPr>
              <p:nvPr>
                <p:ph idx="1"/>
              </p:nvPr>
            </p:nvSpPr>
            <p:spPr>
              <a:xfrm>
                <a:off x="457200" y="1200150"/>
                <a:ext cx="8539316" cy="3943349"/>
              </a:xfrm>
              <a:blipFill>
                <a:blip r:embed="rId3"/>
                <a:stretch>
                  <a:fillRect l="-149" t="-1282"/>
                </a:stretch>
              </a:blipFill>
            </p:spPr>
            <p:txBody>
              <a:bodyPr/>
              <a:lstStyle/>
              <a:p>
                <a:r>
                  <a:rPr lang="en-US">
                    <a:noFill/>
                  </a:rPr>
                  <a:t> </a:t>
                </a:r>
              </a:p>
            </p:txBody>
          </p:sp>
        </mc:Fallback>
      </mc:AlternateContent>
    </p:spTree>
    <p:extLst>
      <p:ext uri="{BB962C8B-B14F-4D97-AF65-F5344CB8AC3E}">
        <p14:creationId xmlns:p14="http://schemas.microsoft.com/office/powerpoint/2010/main" val="430381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363" y="-435769"/>
            <a:ext cx="3008313" cy="871538"/>
          </a:xfrm>
        </p:spPr>
        <p:txBody>
          <a:bodyPr/>
          <a:lstStyle/>
          <a:p>
            <a:pPr marL="0" lvl="0" indent="0">
              <a:buNone/>
            </a:pPr>
            <a:r>
              <a:rPr dirty="0"/>
              <a:t>3. Simulation approach</a:t>
            </a:r>
          </a:p>
        </p:txBody>
      </p:sp>
      <p:sp>
        <p:nvSpPr>
          <p:cNvPr id="4" name="Text Placeholder 3"/>
          <p:cNvSpPr>
            <a:spLocks noGrp="1"/>
          </p:cNvSpPr>
          <p:nvPr>
            <p:ph type="body" sz="half" idx="2"/>
          </p:nvPr>
        </p:nvSpPr>
        <p:spPr>
          <a:xfrm>
            <a:off x="75361" y="694488"/>
            <a:ext cx="4175091" cy="4449012"/>
          </a:xfrm>
        </p:spPr>
        <p:txBody>
          <a:bodyPr>
            <a:normAutofit fontScale="92500" lnSpcReduction="20000"/>
          </a:bodyPr>
          <a:lstStyle/>
          <a:p>
            <a:pPr marL="0" lvl="0" indent="0">
              <a:buNone/>
            </a:pPr>
            <a:r>
              <a:rPr sz="1600" dirty="0"/>
              <a:t>They use </a:t>
            </a:r>
            <a:r>
              <a:rPr sz="1600" b="1" dirty="0"/>
              <a:t>SPIS</a:t>
            </a:r>
            <a:r>
              <a:rPr sz="1600" dirty="0"/>
              <a:t>, a 3-D Particle-in-Cell plasma charging code .</a:t>
            </a:r>
          </a:p>
          <a:p>
            <a:pPr marL="0" lvl="0" indent="0">
              <a:buNone/>
            </a:pPr>
            <a:r>
              <a:rPr sz="1600" dirty="0"/>
              <a:t>Europa’s surface is represented as a 1 m × 3 m cylinder embedded in plasma with:</a:t>
            </a:r>
            <a:endParaRPr lang="en-US" sz="1600" dirty="0"/>
          </a:p>
          <a:p>
            <a:pPr marL="0" lvl="0" indent="0">
              <a:buNone/>
            </a:pPr>
            <a:endParaRPr sz="1600" dirty="0"/>
          </a:p>
          <a:p>
            <a:pPr marL="285750" lvl="0" indent="-285750">
              <a:buFont typeface="Arial" panose="020B0604020202020204" pitchFamily="34" charset="0"/>
              <a:buChar char="•"/>
            </a:pPr>
            <a:r>
              <a:rPr sz="1600" dirty="0"/>
              <a:t>realistic electron &amp; ion distributions</a:t>
            </a:r>
          </a:p>
          <a:p>
            <a:pPr marL="285750" lvl="0" indent="-285750">
              <a:buFont typeface="Arial" panose="020B0604020202020204" pitchFamily="34" charset="0"/>
              <a:buChar char="•"/>
            </a:pPr>
            <a:r>
              <a:rPr sz="1600" dirty="0"/>
              <a:t>magnetic field</a:t>
            </a:r>
          </a:p>
          <a:p>
            <a:pPr marL="285750" lvl="0" indent="-285750">
              <a:buFont typeface="Arial" panose="020B0604020202020204" pitchFamily="34" charset="0"/>
              <a:buChar char="•"/>
            </a:pPr>
            <a:r>
              <a:rPr sz="1600" dirty="0"/>
              <a:t>secondary electron emission</a:t>
            </a:r>
          </a:p>
          <a:p>
            <a:pPr marL="285750" lvl="0" indent="-285750">
              <a:buFont typeface="Arial" panose="020B0604020202020204" pitchFamily="34" charset="0"/>
              <a:buChar char="•"/>
            </a:pPr>
            <a:r>
              <a:rPr sz="1600" dirty="0"/>
              <a:t>photoemission</a:t>
            </a:r>
          </a:p>
          <a:p>
            <a:pPr marL="0" lvl="0" indent="0">
              <a:buNone/>
            </a:pPr>
            <a:endParaRPr lang="en-US" sz="1600" dirty="0"/>
          </a:p>
          <a:p>
            <a:pPr marL="0" lvl="0" indent="0">
              <a:buNone/>
            </a:pPr>
            <a:r>
              <a:rPr sz="1600" dirty="0"/>
              <a:t>Four hemispheres</a:t>
            </a:r>
            <a:endParaRPr lang="en-US" sz="1600" dirty="0"/>
          </a:p>
          <a:p>
            <a:pPr marL="0" lvl="0" indent="0">
              <a:buNone/>
            </a:pPr>
            <a:endParaRPr sz="1600" dirty="0"/>
          </a:p>
          <a:p>
            <a:pPr marL="171450" lvl="0" indent="-171450">
              <a:buFont typeface="Arial" panose="020B0604020202020204" pitchFamily="34" charset="0"/>
              <a:buChar char="•"/>
            </a:pPr>
            <a:r>
              <a:rPr sz="1600" dirty="0"/>
              <a:t>Sub-Jovian (0°)</a:t>
            </a:r>
          </a:p>
          <a:p>
            <a:pPr marL="171450" lvl="0" indent="-171450">
              <a:buFont typeface="Arial" panose="020B0604020202020204" pitchFamily="34" charset="0"/>
              <a:buChar char="•"/>
            </a:pPr>
            <a:r>
              <a:rPr sz="1600" dirty="0"/>
              <a:t>Leading (90°W)</a:t>
            </a:r>
          </a:p>
          <a:p>
            <a:pPr marL="171450" lvl="0" indent="-171450">
              <a:buFont typeface="Arial" panose="020B0604020202020204" pitchFamily="34" charset="0"/>
              <a:buChar char="•"/>
            </a:pPr>
            <a:r>
              <a:rPr sz="1600" dirty="0"/>
              <a:t>Anti-Jovian (180°)</a:t>
            </a:r>
          </a:p>
          <a:p>
            <a:pPr marL="171450" lvl="0" indent="-171450">
              <a:buFont typeface="Arial" panose="020B0604020202020204" pitchFamily="34" charset="0"/>
              <a:buChar char="•"/>
            </a:pPr>
            <a:r>
              <a:rPr sz="1600" dirty="0"/>
              <a:t>Trailing (270°W)</a:t>
            </a:r>
            <a:endParaRPr lang="en-US" sz="1600" dirty="0"/>
          </a:p>
          <a:p>
            <a:pPr marL="171450" lvl="0" indent="-171450">
              <a:buFont typeface="Arial" panose="020B0604020202020204" pitchFamily="34" charset="0"/>
              <a:buChar char="•"/>
            </a:pPr>
            <a:endParaRPr sz="1600" dirty="0"/>
          </a:p>
          <a:p>
            <a:pPr marL="0" lvl="0" indent="0">
              <a:buNone/>
            </a:pPr>
            <a:r>
              <a:rPr sz="1600" dirty="0"/>
              <a:t>plus sunlit vs eclipse.</a:t>
            </a:r>
          </a:p>
        </p:txBody>
      </p:sp>
      <p:pic>
        <p:nvPicPr>
          <p:cNvPr id="3" name="Picture 1" descr="reddySurfaceChargingJupiters2024-fig1.png"/>
          <p:cNvPicPr>
            <a:picLocks noGrp="1" noChangeAspect="1"/>
          </p:cNvPicPr>
          <p:nvPr/>
        </p:nvPicPr>
        <p:blipFill>
          <a:blip r:embed="rId3"/>
          <a:stretch>
            <a:fillRect/>
          </a:stretch>
        </p:blipFill>
        <p:spPr bwMode="auto">
          <a:xfrm>
            <a:off x="3730450" y="119537"/>
            <a:ext cx="3662624" cy="2350639"/>
          </a:xfrm>
          <a:prstGeom prst="rect">
            <a:avLst/>
          </a:prstGeom>
          <a:noFill/>
          <a:ln w="9525">
            <a:noFill/>
            <a:headEnd/>
            <a:tailEnd/>
          </a:ln>
        </p:spPr>
      </p:pic>
      <p:sp>
        <p:nvSpPr>
          <p:cNvPr id="5" name="TextBox 3"/>
          <p:cNvSpPr txBox="1"/>
          <p:nvPr/>
        </p:nvSpPr>
        <p:spPr>
          <a:xfrm>
            <a:off x="7259934" y="694488"/>
            <a:ext cx="1703196" cy="1596536"/>
          </a:xfrm>
          <a:prstGeom prst="rect">
            <a:avLst/>
          </a:prstGeom>
          <a:noFill/>
        </p:spPr>
        <p:txBody>
          <a:bodyPr/>
          <a:lstStyle/>
          <a:p>
            <a:pPr marL="0" lvl="0" indent="0" algn="ctr">
              <a:buNone/>
            </a:pPr>
            <a:r>
              <a:rPr dirty="0"/>
              <a:t>Geometry of Europa’s interaction with Jupiter’s magnetosphere</a:t>
            </a:r>
          </a:p>
        </p:txBody>
      </p:sp>
      <p:pic>
        <p:nvPicPr>
          <p:cNvPr id="6" name="Picture 5">
            <a:extLst>
              <a:ext uri="{FF2B5EF4-FFF2-40B4-BE49-F238E27FC236}">
                <a16:creationId xmlns:a16="http://schemas.microsoft.com/office/drawing/2014/main" id="{950D143F-3B96-A091-0259-70FA3B1C2010}"/>
              </a:ext>
            </a:extLst>
          </p:cNvPr>
          <p:cNvPicPr>
            <a:picLocks noChangeAspect="1"/>
          </p:cNvPicPr>
          <p:nvPr/>
        </p:nvPicPr>
        <p:blipFill>
          <a:blip r:embed="rId4"/>
          <a:stretch>
            <a:fillRect/>
          </a:stretch>
        </p:blipFill>
        <p:spPr>
          <a:xfrm>
            <a:off x="1979525" y="2649329"/>
            <a:ext cx="7164475" cy="2468432"/>
          </a:xfrm>
          <a:prstGeom prst="rect">
            <a:avLst/>
          </a:prstGeom>
        </p:spPr>
      </p:pic>
      <p:sp>
        <p:nvSpPr>
          <p:cNvPr id="7" name="Rectangle 6">
            <a:extLst>
              <a:ext uri="{FF2B5EF4-FFF2-40B4-BE49-F238E27FC236}">
                <a16:creationId xmlns:a16="http://schemas.microsoft.com/office/drawing/2014/main" id="{ACE928A6-A8DE-3D11-322D-03BBD1BDB25F}"/>
              </a:ext>
            </a:extLst>
          </p:cNvPr>
          <p:cNvSpPr/>
          <p:nvPr/>
        </p:nvSpPr>
        <p:spPr>
          <a:xfrm>
            <a:off x="2162906" y="3422754"/>
            <a:ext cx="6900473" cy="134911"/>
          </a:xfrm>
          <a:prstGeom prst="rect">
            <a:avLst/>
          </a:prstGeom>
          <a:no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a:xfrm>
                <a:off x="77450" y="-306784"/>
                <a:ext cx="3008313" cy="871538"/>
              </a:xfrm>
            </p:spPr>
            <p:txBody>
              <a:bodyPr/>
              <a:lstStyle/>
              <a:p>
                <a:r>
                  <a:rPr dirty="0"/>
                  <a:t>4. Main result: Europa is always negative</a:t>
                </a:r>
                <a:r>
                  <a:rPr lang="en-US" dirty="0"/>
                  <a:t>: </a:t>
                </a:r>
                <a14:m>
                  <m:oMath xmlns:m="http://schemas.openxmlformats.org/officeDocument/2006/math">
                    <m:r>
                      <a:rPr lang="en-US" sz="1400">
                        <a:latin typeface="Cambria Math" panose="02040503050406030204" pitchFamily="18" charset="0"/>
                      </a:rPr>
                      <m:t>−14</m:t>
                    </m:r>
                    <m:r>
                      <m:rPr>
                        <m:nor/>
                      </m:rPr>
                      <a:rPr lang="en-US" sz="1400"/>
                      <m:t>V</m:t>
                    </m:r>
                    <m:r>
                      <a:rPr lang="en-US" sz="1400">
                        <a:latin typeface="Cambria Math" panose="02040503050406030204" pitchFamily="18" charset="0"/>
                      </a:rPr>
                      <m:t>→−52</m:t>
                    </m:r>
                    <m:r>
                      <m:rPr>
                        <m:nor/>
                      </m:rPr>
                      <a:rPr lang="en-US" sz="1400"/>
                      <m:t>V</m:t>
                    </m:r>
                  </m:oMath>
                </a14:m>
                <a:endParaRPr dirty="0"/>
              </a:p>
            </p:txBody>
          </p:sp>
        </mc:Choice>
        <mc:Fallback>
          <p:sp>
            <p:nvSpPr>
              <p:cNvPr id="2" name="Title 1"/>
              <p:cNvSpPr>
                <a:spLocks noGrp="1" noRot="1" noChangeAspect="1" noMove="1" noResize="1" noEditPoints="1" noAdjustHandles="1" noChangeArrowheads="1" noChangeShapeType="1" noTextEdit="1"/>
              </p:cNvSpPr>
              <p:nvPr>
                <p:ph type="title"/>
              </p:nvPr>
            </p:nvSpPr>
            <p:spPr>
              <a:xfrm>
                <a:off x="77450" y="-306784"/>
                <a:ext cx="3008313" cy="871538"/>
              </a:xfrm>
              <a:blipFill>
                <a:blip r:embed="rId3"/>
                <a:stretch>
                  <a:fillRect l="-1266" b="-7246"/>
                </a:stretch>
              </a:blipFill>
            </p:spPr>
            <p:txBody>
              <a:bodyPr/>
              <a:lstStyle/>
              <a:p>
                <a:r>
                  <a:rPr lang="en-US">
                    <a:noFill/>
                  </a:rPr>
                  <a:t> </a:t>
                </a:r>
              </a:p>
            </p:txBody>
          </p:sp>
        </mc:Fallback>
      </mc:AlternateContent>
      <p:graphicFrame>
        <p:nvGraphicFramePr>
          <p:cNvPr id="6" name="Content Placeholder 5"/>
          <p:cNvGraphicFramePr>
            <a:graphicFrameLocks noGrp="1"/>
          </p:cNvGraphicFramePr>
          <p:nvPr>
            <p:ph idx="1"/>
            <p:extLst>
              <p:ext uri="{D42A27DB-BD31-4B8C-83A1-F6EECF244321}">
                <p14:modId xmlns:p14="http://schemas.microsoft.com/office/powerpoint/2010/main" val="3524823347"/>
              </p:ext>
            </p:extLst>
          </p:nvPr>
        </p:nvGraphicFramePr>
        <p:xfrm>
          <a:off x="5662667" y="5358216"/>
          <a:ext cx="5105400" cy="1303020"/>
        </p:xfrm>
        <a:graphic>
          <a:graphicData uri="http://schemas.openxmlformats.org/drawingml/2006/table">
            <a:tbl>
              <a:tblPr firstRow="1" bandRow="1">
                <a:tableStyleId>{5C22544A-7EE6-4342-B048-85BDC9FD1C3A}</a:tableStyleId>
              </a:tblPr>
              <a:tblGrid>
                <a:gridCol w="2552700">
                  <a:extLst>
                    <a:ext uri="{9D8B030D-6E8A-4147-A177-3AD203B41FA5}">
                      <a16:colId xmlns:a16="http://schemas.microsoft.com/office/drawing/2014/main" val="20000"/>
                    </a:ext>
                  </a:extLst>
                </a:gridCol>
                <a:gridCol w="2552700">
                  <a:extLst>
                    <a:ext uri="{9D8B030D-6E8A-4147-A177-3AD203B41FA5}">
                      <a16:colId xmlns:a16="http://schemas.microsoft.com/office/drawing/2014/main" val="20001"/>
                    </a:ext>
                  </a:extLst>
                </a:gridCol>
              </a:tblGrid>
              <a:tr h="0">
                <a:tc>
                  <a:txBody>
                    <a:bodyPr/>
                    <a:lstStyle/>
                    <a:p>
                      <a:pPr marL="0" lvl="0" indent="0">
                        <a:buNone/>
                      </a:pPr>
                      <a:r>
                        <a:rPr dirty="0"/>
                        <a:t>Location</a:t>
                      </a:r>
                    </a:p>
                  </a:txBody>
                  <a:tcPr/>
                </a:tc>
                <a:tc>
                  <a:txBody>
                    <a:bodyPr/>
                    <a:lstStyle/>
                    <a:p>
                      <a:pPr marL="0" lvl="0" indent="0">
                        <a:buNone/>
                      </a:pPr>
                      <a:r>
                        <a:t>Why</a:t>
                      </a:r>
                    </a:p>
                  </a:txBody>
                  <a:tcPr/>
                </a:tc>
                <a:extLst>
                  <a:ext uri="{0D108BD9-81ED-4DB2-BD59-A6C34878D82A}">
                    <a16:rowId xmlns:a16="http://schemas.microsoft.com/office/drawing/2014/main" val="10000"/>
                  </a:ext>
                </a:extLst>
              </a:tr>
              <a:tr h="0">
                <a:tc>
                  <a:txBody>
                    <a:bodyPr/>
                    <a:lstStyle/>
                    <a:p>
                      <a:pPr marL="0" lvl="0" indent="0">
                        <a:buNone/>
                      </a:pPr>
                      <a:r>
                        <a:rPr dirty="0"/>
                        <a:t>Trailing hemisphere</a:t>
                      </a:r>
                    </a:p>
                  </a:txBody>
                  <a:tcPr/>
                </a:tc>
                <a:tc>
                  <a:txBody>
                    <a:bodyPr/>
                    <a:lstStyle/>
                    <a:p>
                      <a:pPr marL="0" lvl="0" indent="0">
                        <a:buNone/>
                      </a:pPr>
                      <a:r>
                        <a:t>Faces plasma flow → strongest charging</a:t>
                      </a:r>
                    </a:p>
                  </a:txBody>
                  <a:tcPr/>
                </a:tc>
                <a:extLst>
                  <a:ext uri="{0D108BD9-81ED-4DB2-BD59-A6C34878D82A}">
                    <a16:rowId xmlns:a16="http://schemas.microsoft.com/office/drawing/2014/main" val="10001"/>
                  </a:ext>
                </a:extLst>
              </a:tr>
              <a:tr h="0">
                <a:tc>
                  <a:txBody>
                    <a:bodyPr/>
                    <a:lstStyle/>
                    <a:p>
                      <a:pPr marL="0" lvl="0" indent="0">
                        <a:buNone/>
                      </a:pPr>
                      <a:r>
                        <a:rPr dirty="0"/>
                        <a:t>Leading hemisphere</a:t>
                      </a:r>
                    </a:p>
                  </a:txBody>
                  <a:tcPr/>
                </a:tc>
                <a:tc>
                  <a:txBody>
                    <a:bodyPr/>
                    <a:lstStyle/>
                    <a:p>
                      <a:pPr marL="0" lvl="0" indent="0">
                        <a:buNone/>
                      </a:pPr>
                      <a:r>
                        <a:rPr dirty="0"/>
                        <a:t>In plasma wake → fewer ions, more electrons</a:t>
                      </a:r>
                    </a:p>
                  </a:txBody>
                  <a:tcPr/>
                </a:tc>
                <a:extLst>
                  <a:ext uri="{0D108BD9-81ED-4DB2-BD59-A6C34878D82A}">
                    <a16:rowId xmlns:a16="http://schemas.microsoft.com/office/drawing/2014/main" val="10002"/>
                  </a:ext>
                </a:extLst>
              </a:tr>
            </a:tbl>
          </a:graphicData>
        </a:graphic>
      </p:graphicFrame>
      <p:sp>
        <p:nvSpPr>
          <p:cNvPr id="3" name="Content Placeholder 2">
            <a:extLst>
              <a:ext uri="{FF2B5EF4-FFF2-40B4-BE49-F238E27FC236}">
                <a16:creationId xmlns:a16="http://schemas.microsoft.com/office/drawing/2014/main" id="{7F4DCADD-9EA2-25E8-E34E-B955FFEDCEAE}"/>
              </a:ext>
            </a:extLst>
          </p:cNvPr>
          <p:cNvSpPr txBox="1">
            <a:spLocks/>
          </p:cNvSpPr>
          <p:nvPr/>
        </p:nvSpPr>
        <p:spPr>
          <a:xfrm>
            <a:off x="0" y="3903004"/>
            <a:ext cx="10013607" cy="3049017"/>
          </a:xfrm>
          <a:prstGeom prst="rect">
            <a:avLst/>
          </a:prstGeom>
        </p:spPr>
        <p:txBody>
          <a:bodyPr vert="horz" lIns="91440" tIns="45720" rIns="91440" bIns="45720" rtlCol="0">
            <a:normAutofit/>
          </a:bodyPr>
          <a:lst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r>
              <a:rPr lang="en-US" sz="2000" dirty="0"/>
              <a:t>O+ magnetospheric ions access to the surface except leading edge</a:t>
            </a:r>
          </a:p>
          <a:p>
            <a:r>
              <a:rPr lang="en-US" sz="2000" dirty="0"/>
              <a:t>a hotter population results in a greater negative potential except trailing edge</a:t>
            </a:r>
          </a:p>
          <a:p>
            <a:r>
              <a:rPr lang="en-US" sz="2000" dirty="0"/>
              <a:t>photoemission reduces the surface potential by up to 2 V (relatively small)</a:t>
            </a:r>
          </a:p>
        </p:txBody>
      </p:sp>
      <p:pic>
        <p:nvPicPr>
          <p:cNvPr id="5" name="Picture 4" descr="reddySurfaceChargingJupiters2024-fig2.png">
            <a:extLst>
              <a:ext uri="{FF2B5EF4-FFF2-40B4-BE49-F238E27FC236}">
                <a16:creationId xmlns:a16="http://schemas.microsoft.com/office/drawing/2014/main" id="{4C42FA05-2C44-DC94-6B59-0AD11005B2C3}"/>
              </a:ext>
            </a:extLst>
          </p:cNvPr>
          <p:cNvPicPr>
            <a:picLocks noGrp="1" noChangeAspect="1"/>
          </p:cNvPicPr>
          <p:nvPr/>
        </p:nvPicPr>
        <p:blipFill>
          <a:blip r:embed="rId4"/>
          <a:stretch>
            <a:fillRect/>
          </a:stretch>
        </p:blipFill>
        <p:spPr bwMode="auto">
          <a:xfrm>
            <a:off x="0" y="779669"/>
            <a:ext cx="6440721" cy="2650938"/>
          </a:xfrm>
          <a:prstGeom prst="rect">
            <a:avLst/>
          </a:prstGeom>
          <a:noFill/>
          <a:ln w="9525">
            <a:noFill/>
            <a:headEnd/>
            <a:tailEnd/>
          </a:ln>
        </p:spPr>
      </p:pic>
      <p:sp>
        <p:nvSpPr>
          <p:cNvPr id="7" name="TextBox 6">
            <a:extLst>
              <a:ext uri="{FF2B5EF4-FFF2-40B4-BE49-F238E27FC236}">
                <a16:creationId xmlns:a16="http://schemas.microsoft.com/office/drawing/2014/main" id="{E3A25C20-DE3B-D6D5-EC8B-6FF34BEC445E}"/>
              </a:ext>
            </a:extLst>
          </p:cNvPr>
          <p:cNvSpPr txBox="1"/>
          <p:nvPr/>
        </p:nvSpPr>
        <p:spPr>
          <a:xfrm>
            <a:off x="3465225" y="-8164"/>
            <a:ext cx="5601325" cy="567045"/>
          </a:xfrm>
          <a:prstGeom prst="rect">
            <a:avLst/>
          </a:prstGeom>
          <a:noFill/>
        </p:spPr>
        <p:txBody>
          <a:bodyPr/>
          <a:lstStyle/>
          <a:p>
            <a:pPr marL="0" lvl="0" indent="0" algn="r">
              <a:buNone/>
            </a:pPr>
            <a:r>
              <a:rPr dirty="0"/>
              <a:t>Surface potentials as a function of location on Europa’s hemispheres, solar illumination conditions, and magnetospheric plasma properties.</a:t>
            </a:r>
          </a:p>
        </p:txBody>
      </p:sp>
      <p:pic>
        <p:nvPicPr>
          <p:cNvPr id="10" name="Picture 1" descr="reddySurfaceChargingJupiters2024-fig1.png">
            <a:extLst>
              <a:ext uri="{FF2B5EF4-FFF2-40B4-BE49-F238E27FC236}">
                <a16:creationId xmlns:a16="http://schemas.microsoft.com/office/drawing/2014/main" id="{3ED34DF5-821C-54CD-02F6-8E6D47437D4D}"/>
              </a:ext>
            </a:extLst>
          </p:cNvPr>
          <p:cNvPicPr>
            <a:picLocks noGrp="1" noChangeAspect="1"/>
          </p:cNvPicPr>
          <p:nvPr/>
        </p:nvPicPr>
        <p:blipFill>
          <a:blip r:embed="rId5"/>
          <a:stretch>
            <a:fillRect/>
          </a:stretch>
        </p:blipFill>
        <p:spPr bwMode="auto">
          <a:xfrm>
            <a:off x="6299109" y="2105138"/>
            <a:ext cx="2767441" cy="1776118"/>
          </a:xfrm>
          <a:prstGeom prst="rect">
            <a:avLst/>
          </a:prstGeom>
          <a:noFill/>
          <a:ln w="9525">
            <a:noFill/>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87841"/>
            <a:ext cx="3862614" cy="807585"/>
          </a:xfrm>
        </p:spPr>
        <p:txBody>
          <a:bodyPr>
            <a:normAutofit/>
          </a:bodyPr>
          <a:lstStyle/>
          <a:p>
            <a:pPr marL="0" lvl="0" indent="0">
              <a:buNone/>
            </a:pPr>
            <a:r>
              <a:rPr sz="1800" dirty="0"/>
              <a:t>5. The ionosphere “dampens” charging</a:t>
            </a:r>
          </a:p>
        </p:txBody>
      </p:sp>
      <mc:AlternateContent xmlns:mc="http://schemas.openxmlformats.org/markup-compatibility/2006">
        <mc:Choice xmlns:a14="http://schemas.microsoft.com/office/drawing/2010/main" Requires="a14">
          <p:sp>
            <p:nvSpPr>
              <p:cNvPr id="4" name="Text Placeholder 3"/>
              <p:cNvSpPr>
                <a:spLocks noGrp="1"/>
              </p:cNvSpPr>
              <p:nvPr>
                <p:ph type="body" sz="half" idx="2"/>
              </p:nvPr>
            </p:nvSpPr>
            <p:spPr>
              <a:xfrm>
                <a:off x="122465" y="558403"/>
                <a:ext cx="4245657" cy="3518297"/>
              </a:xfrm>
            </p:spPr>
            <p:txBody>
              <a:bodyPr>
                <a:normAutofit/>
              </a:bodyPr>
              <a:lstStyle/>
              <a:p>
                <a:pPr marL="0" lvl="0" indent="0">
                  <a:buNone/>
                </a:pPr>
                <a:r>
                  <a:rPr sz="1200" dirty="0"/>
                  <a:t>If Europa had less dense ionosphere, potentials would be much larger.</a:t>
                </a:r>
              </a:p>
              <a:p>
                <a:pPr marL="0" lvl="0" indent="0">
                  <a:buNone/>
                </a:pPr>
                <a:r>
                  <a:rPr sz="1200" dirty="0"/>
                  <a:t>They reduce ionospheric density from 10,000 cm⁻³ to 100 cm⁻³ and find:</a:t>
                </a:r>
              </a:p>
              <a:p>
                <a:pPr marL="0" lvl="0" indent="0">
                  <a:buNone/>
                </a:pPr>
                <a14:m>
                  <m:oMathPara xmlns:m="http://schemas.openxmlformats.org/officeDocument/2006/math">
                    <m:oMathParaPr>
                      <m:jc m:val="center"/>
                    </m:oMathParaPr>
                    <m:oMath xmlns:m="http://schemas.openxmlformats.org/officeDocument/2006/math">
                      <m:r>
                        <a:rPr sz="1200">
                          <a:latin typeface="Cambria Math" panose="02040503050406030204" pitchFamily="18" charset="0"/>
                        </a:rPr>
                        <m:t>−51</m:t>
                      </m:r>
                      <m:r>
                        <m:rPr>
                          <m:nor/>
                        </m:rPr>
                        <a:rPr sz="1200"/>
                        <m:t>V</m:t>
                      </m:r>
                      <m:r>
                        <a:rPr sz="1200">
                          <a:latin typeface="Cambria Math" panose="02040503050406030204" pitchFamily="18" charset="0"/>
                        </a:rPr>
                        <m:t>→−125</m:t>
                      </m:r>
                      <m:r>
                        <m:rPr>
                          <m:nor/>
                        </m:rPr>
                        <a:rPr sz="1200"/>
                        <m:t>V</m:t>
                      </m:r>
                    </m:oMath>
                  </m:oMathPara>
                </a14:m>
                <a:endParaRPr sz="1200" dirty="0"/>
              </a:p>
              <a:p>
                <a:pPr marL="0" lvl="0" indent="0">
                  <a:buNone/>
                </a:pPr>
                <a:r>
                  <a:rPr sz="1200" dirty="0"/>
                  <a:t>for hot plasma.</a:t>
                </a:r>
              </a:p>
            </p:txBody>
          </p:sp>
        </mc:Choice>
        <mc:Fallback>
          <p:sp>
            <p:nvSpPr>
              <p:cNvPr id="4" name="Text Placeholder 3"/>
              <p:cNvSpPr>
                <a:spLocks noGrp="1" noRot="1" noChangeAspect="1" noMove="1" noResize="1" noEditPoints="1" noAdjustHandles="1" noChangeArrowheads="1" noChangeShapeType="1" noTextEdit="1"/>
              </p:cNvSpPr>
              <p:nvPr>
                <p:ph type="body" sz="half" idx="2"/>
              </p:nvPr>
            </p:nvSpPr>
            <p:spPr>
              <a:xfrm>
                <a:off x="122465" y="558403"/>
                <a:ext cx="4245657" cy="3518297"/>
              </a:xfrm>
              <a:blipFill>
                <a:blip r:embed="rId3"/>
                <a:stretch>
                  <a:fillRect t="-360"/>
                </a:stretch>
              </a:blipFill>
            </p:spPr>
            <p:txBody>
              <a:bodyPr/>
              <a:lstStyle/>
              <a:p>
                <a:r>
                  <a:rPr lang="en-US">
                    <a:noFill/>
                  </a:rPr>
                  <a:t> </a:t>
                </a:r>
              </a:p>
            </p:txBody>
          </p:sp>
        </mc:Fallback>
      </mc:AlternateContent>
      <p:pic>
        <p:nvPicPr>
          <p:cNvPr id="3" name="Picture 1" descr="reddySurfaceChargingJupiters2024-fig3.png"/>
          <p:cNvPicPr>
            <a:picLocks noGrp="1" noChangeAspect="1"/>
          </p:cNvPicPr>
          <p:nvPr/>
        </p:nvPicPr>
        <p:blipFill>
          <a:blip r:embed="rId4"/>
          <a:stretch>
            <a:fillRect/>
          </a:stretch>
        </p:blipFill>
        <p:spPr bwMode="auto">
          <a:xfrm>
            <a:off x="14515" y="1841030"/>
            <a:ext cx="3935414" cy="2124340"/>
          </a:xfrm>
          <a:prstGeom prst="rect">
            <a:avLst/>
          </a:prstGeom>
          <a:noFill/>
          <a:ln w="9525">
            <a:noFill/>
            <a:headEnd/>
            <a:tailEnd/>
          </a:ln>
        </p:spPr>
      </p:pic>
      <p:sp>
        <p:nvSpPr>
          <p:cNvPr id="5" name="TextBox 3"/>
          <p:cNvSpPr txBox="1"/>
          <p:nvPr/>
        </p:nvSpPr>
        <p:spPr>
          <a:xfrm>
            <a:off x="-178707" y="4172066"/>
            <a:ext cx="4357007" cy="824680"/>
          </a:xfrm>
          <a:prstGeom prst="rect">
            <a:avLst/>
          </a:prstGeom>
          <a:noFill/>
        </p:spPr>
        <p:txBody>
          <a:bodyPr/>
          <a:lstStyle/>
          <a:p>
            <a:pPr marL="0" lvl="0" indent="0" algn="ctr">
              <a:buNone/>
            </a:pPr>
            <a:r>
              <a:rPr sz="1600" dirty="0"/>
              <a:t>The effects of ionospheric density on surface potential on the trailing hemisphere during eclipse.</a:t>
            </a:r>
          </a:p>
        </p:txBody>
      </p:sp>
      <p:sp>
        <p:nvSpPr>
          <p:cNvPr id="6" name="Title 1">
            <a:extLst>
              <a:ext uri="{FF2B5EF4-FFF2-40B4-BE49-F238E27FC236}">
                <a16:creationId xmlns:a16="http://schemas.microsoft.com/office/drawing/2014/main" id="{81389281-ECDE-7295-60DE-B8584236606B}"/>
              </a:ext>
            </a:extLst>
          </p:cNvPr>
          <p:cNvSpPr txBox="1">
            <a:spLocks/>
          </p:cNvSpPr>
          <p:nvPr/>
        </p:nvSpPr>
        <p:spPr>
          <a:xfrm>
            <a:off x="4456793" y="-451794"/>
            <a:ext cx="4548414" cy="871538"/>
          </a:xfrm>
          <a:prstGeom prst="rect">
            <a:avLst/>
          </a:prstGeom>
        </p:spPr>
        <p:txBody>
          <a:bodyPr vert="horz" lIns="91440" tIns="45720" rIns="91440" bIns="45720" rtlCol="0" anchor="b">
            <a:normAutofit/>
          </a:bodyPr>
          <a:lstStyle>
            <a:lvl1pPr algn="l" defTabSz="342900" rtl="0" eaLnBrk="1" latinLnBrk="0" hangingPunct="1">
              <a:spcBef>
                <a:spcPct val="0"/>
              </a:spcBef>
              <a:buNone/>
              <a:defRPr sz="1500" b="1" kern="1200">
                <a:solidFill>
                  <a:schemeClr val="tx1"/>
                </a:solidFill>
                <a:latin typeface="+mj-lt"/>
                <a:ea typeface="+mj-ea"/>
                <a:cs typeface="+mj-cs"/>
              </a:defRPr>
            </a:lvl1pPr>
          </a:lstStyle>
          <a:p>
            <a:r>
              <a:rPr lang="en-US" sz="1800" dirty="0"/>
              <a:t>6. Secondary emission dominates uncertainty</a:t>
            </a:r>
          </a:p>
        </p:txBody>
      </p:sp>
      <mc:AlternateContent xmlns:mc="http://schemas.openxmlformats.org/markup-compatibility/2006">
        <mc:Choice xmlns:a14="http://schemas.microsoft.com/office/drawing/2010/main" Requires="a14">
          <p:sp>
            <p:nvSpPr>
              <p:cNvPr id="7" name="Text Placeholder 3">
                <a:extLst>
                  <a:ext uri="{FF2B5EF4-FFF2-40B4-BE49-F238E27FC236}">
                    <a16:creationId xmlns:a16="http://schemas.microsoft.com/office/drawing/2014/main" id="{9479DCF9-6C3B-DB46-B1E9-C176BDF95652}"/>
                  </a:ext>
                </a:extLst>
              </p:cNvPr>
              <p:cNvSpPr txBox="1">
                <a:spLocks/>
              </p:cNvSpPr>
              <p:nvPr/>
            </p:nvSpPr>
            <p:spPr>
              <a:xfrm>
                <a:off x="4456793" y="512230"/>
                <a:ext cx="4687207" cy="3518297"/>
              </a:xfrm>
              <a:prstGeom prst="rect">
                <a:avLst/>
              </a:prstGeom>
            </p:spPr>
            <p:txBody>
              <a:bodyPr vert="horz" lIns="91440" tIns="45720" rIns="91440" bIns="45720" rtlCol="0">
                <a:normAutofit/>
              </a:bodyPr>
              <a:lstStyle>
                <a:lvl1pPr marL="0" indent="0" algn="l" defTabSz="342900" rtl="0" eaLnBrk="1" latinLnBrk="0" hangingPunct="1">
                  <a:spcBef>
                    <a:spcPct val="20000"/>
                  </a:spcBef>
                  <a:buFont typeface="Arial"/>
                  <a:buNone/>
                  <a:defRPr sz="1050" kern="1200">
                    <a:solidFill>
                      <a:schemeClr val="tx1"/>
                    </a:solidFill>
                    <a:latin typeface="+mn-lt"/>
                    <a:ea typeface="+mn-ea"/>
                    <a:cs typeface="+mn-cs"/>
                  </a:defRPr>
                </a:lvl1pPr>
                <a:lvl2pPr marL="342900" indent="0" algn="l" defTabSz="342900" rtl="0" eaLnBrk="1" latinLnBrk="0" hangingPunct="1">
                  <a:spcBef>
                    <a:spcPct val="20000"/>
                  </a:spcBef>
                  <a:buFont typeface="Arial"/>
                  <a:buNone/>
                  <a:defRPr sz="900" kern="1200">
                    <a:solidFill>
                      <a:schemeClr val="tx1"/>
                    </a:solidFill>
                    <a:latin typeface="+mn-lt"/>
                    <a:ea typeface="+mn-ea"/>
                    <a:cs typeface="+mn-cs"/>
                  </a:defRPr>
                </a:lvl2pPr>
                <a:lvl3pPr marL="685800" indent="0" algn="l" defTabSz="342900" rtl="0" eaLnBrk="1" latinLnBrk="0" hangingPunct="1">
                  <a:spcBef>
                    <a:spcPct val="20000"/>
                  </a:spcBef>
                  <a:buFont typeface="Arial"/>
                  <a:buNone/>
                  <a:defRPr sz="750" kern="1200">
                    <a:solidFill>
                      <a:schemeClr val="tx1"/>
                    </a:solidFill>
                    <a:latin typeface="+mn-lt"/>
                    <a:ea typeface="+mn-ea"/>
                    <a:cs typeface="+mn-cs"/>
                  </a:defRPr>
                </a:lvl3pPr>
                <a:lvl4pPr marL="1028700" indent="0" algn="l" defTabSz="342900" rtl="0" eaLnBrk="1" latinLnBrk="0" hangingPunct="1">
                  <a:spcBef>
                    <a:spcPct val="20000"/>
                  </a:spcBef>
                  <a:buFont typeface="Arial"/>
                  <a:buNone/>
                  <a:defRPr sz="675" kern="1200">
                    <a:solidFill>
                      <a:schemeClr val="tx1"/>
                    </a:solidFill>
                    <a:latin typeface="+mn-lt"/>
                    <a:ea typeface="+mn-ea"/>
                    <a:cs typeface="+mn-cs"/>
                  </a:defRPr>
                </a:lvl4pPr>
                <a:lvl5pPr marL="1371600" indent="0" algn="l" defTabSz="342900" rtl="0" eaLnBrk="1" latinLnBrk="0" hangingPunct="1">
                  <a:spcBef>
                    <a:spcPct val="20000"/>
                  </a:spcBef>
                  <a:buFont typeface="Arial"/>
                  <a:buNone/>
                  <a:defRPr sz="675" kern="1200">
                    <a:solidFill>
                      <a:schemeClr val="tx1"/>
                    </a:solidFill>
                    <a:latin typeface="+mn-lt"/>
                    <a:ea typeface="+mn-ea"/>
                    <a:cs typeface="+mn-cs"/>
                  </a:defRPr>
                </a:lvl5pPr>
                <a:lvl6pPr marL="1714500" indent="0" algn="l" defTabSz="342900" rtl="0" eaLnBrk="1" latinLnBrk="0" hangingPunct="1">
                  <a:spcBef>
                    <a:spcPct val="20000"/>
                  </a:spcBef>
                  <a:buFont typeface="Arial"/>
                  <a:buNone/>
                  <a:defRPr sz="675" kern="1200">
                    <a:solidFill>
                      <a:schemeClr val="tx1"/>
                    </a:solidFill>
                    <a:latin typeface="+mn-lt"/>
                    <a:ea typeface="+mn-ea"/>
                    <a:cs typeface="+mn-cs"/>
                  </a:defRPr>
                </a:lvl6pPr>
                <a:lvl7pPr marL="2057400" indent="0" algn="l" defTabSz="342900" rtl="0" eaLnBrk="1" latinLnBrk="0" hangingPunct="1">
                  <a:spcBef>
                    <a:spcPct val="20000"/>
                  </a:spcBef>
                  <a:buFont typeface="Arial"/>
                  <a:buNone/>
                  <a:defRPr sz="675" kern="1200">
                    <a:solidFill>
                      <a:schemeClr val="tx1"/>
                    </a:solidFill>
                    <a:latin typeface="+mn-lt"/>
                    <a:ea typeface="+mn-ea"/>
                    <a:cs typeface="+mn-cs"/>
                  </a:defRPr>
                </a:lvl7pPr>
                <a:lvl8pPr marL="2400300" indent="0" algn="l" defTabSz="342900" rtl="0" eaLnBrk="1" latinLnBrk="0" hangingPunct="1">
                  <a:spcBef>
                    <a:spcPct val="20000"/>
                  </a:spcBef>
                  <a:buFont typeface="Arial"/>
                  <a:buNone/>
                  <a:defRPr sz="675" kern="1200">
                    <a:solidFill>
                      <a:schemeClr val="tx1"/>
                    </a:solidFill>
                    <a:latin typeface="+mn-lt"/>
                    <a:ea typeface="+mn-ea"/>
                    <a:cs typeface="+mn-cs"/>
                  </a:defRPr>
                </a:lvl8pPr>
                <a:lvl9pPr marL="2743200" indent="0" algn="l" defTabSz="342900" rtl="0" eaLnBrk="1" latinLnBrk="0" hangingPunct="1">
                  <a:spcBef>
                    <a:spcPct val="20000"/>
                  </a:spcBef>
                  <a:buFont typeface="Arial"/>
                  <a:buNone/>
                  <a:defRPr sz="675" kern="1200">
                    <a:solidFill>
                      <a:schemeClr val="tx1"/>
                    </a:solidFill>
                    <a:latin typeface="+mn-lt"/>
                    <a:ea typeface="+mn-ea"/>
                    <a:cs typeface="+mn-cs"/>
                  </a:defRPr>
                </a:lvl9pPr>
              </a:lstStyle>
              <a:p>
                <a:r>
                  <a:rPr lang="en-US" sz="1200" dirty="0"/>
                  <a:t>Changing the assumed surface material gives:</a:t>
                </a:r>
              </a:p>
              <a:p>
                <a:pPr/>
                <a14:m>
                  <m:oMathPara xmlns:m="http://schemas.openxmlformats.org/officeDocument/2006/math">
                    <m:oMathParaPr>
                      <m:jc m:val="center"/>
                    </m:oMathParaPr>
                    <m:oMath xmlns:m="http://schemas.openxmlformats.org/officeDocument/2006/math">
                      <m:r>
                        <a:rPr lang="en-US" sz="1200">
                          <a:latin typeface="Cambria Math" panose="02040503050406030204" pitchFamily="18" charset="0"/>
                        </a:rPr>
                        <m:t>−52</m:t>
                      </m:r>
                      <m:r>
                        <m:rPr>
                          <m:nor/>
                        </m:rPr>
                        <a:rPr lang="en-US" sz="1200"/>
                        <m:t>V</m:t>
                      </m:r>
                      <m:r>
                        <a:rPr lang="en-US" sz="1200">
                          <a:latin typeface="Cambria Math" panose="02040503050406030204" pitchFamily="18" charset="0"/>
                        </a:rPr>
                        <m:t>→−5</m:t>
                      </m:r>
                      <m:r>
                        <m:rPr>
                          <m:nor/>
                        </m:rPr>
                        <a:rPr lang="en-US" sz="1200"/>
                        <m:t>V</m:t>
                      </m:r>
                    </m:oMath>
                  </m:oMathPara>
                </a14:m>
                <a:endParaRPr lang="en-US" sz="1200" dirty="0"/>
              </a:p>
              <a:p>
                <a:r>
                  <a:rPr lang="en-US" sz="1200" dirty="0"/>
                  <a:t>for the same plasma conditions.</a:t>
                </a:r>
              </a:p>
              <a:p>
                <a:r>
                  <a:rPr lang="en-US" sz="1200" dirty="0"/>
                  <a:t>So Europa’s chemistry (water ice vs salts, sulfuric acid, etc.) directly affects its electric environment.</a:t>
                </a:r>
              </a:p>
            </p:txBody>
          </p:sp>
        </mc:Choice>
        <mc:Fallback>
          <p:sp>
            <p:nvSpPr>
              <p:cNvPr id="7" name="Text Placeholder 3">
                <a:extLst>
                  <a:ext uri="{FF2B5EF4-FFF2-40B4-BE49-F238E27FC236}">
                    <a16:creationId xmlns:a16="http://schemas.microsoft.com/office/drawing/2014/main" id="{9479DCF9-6C3B-DB46-B1E9-C176BDF95652}"/>
                  </a:ext>
                </a:extLst>
              </p:cNvPr>
              <p:cNvSpPr txBox="1">
                <a:spLocks noRot="1" noChangeAspect="1" noMove="1" noResize="1" noEditPoints="1" noAdjustHandles="1" noChangeArrowheads="1" noChangeShapeType="1" noTextEdit="1"/>
              </p:cNvSpPr>
              <p:nvPr/>
            </p:nvSpPr>
            <p:spPr>
              <a:xfrm>
                <a:off x="4456793" y="512230"/>
                <a:ext cx="4687207" cy="3518297"/>
              </a:xfrm>
              <a:prstGeom prst="rect">
                <a:avLst/>
              </a:prstGeom>
              <a:blipFill>
                <a:blip r:embed="rId5"/>
                <a:stretch>
                  <a:fillRect/>
                </a:stretch>
              </a:blipFill>
            </p:spPr>
            <p:txBody>
              <a:bodyPr/>
              <a:lstStyle/>
              <a:p>
                <a:r>
                  <a:rPr lang="en-US">
                    <a:noFill/>
                  </a:rPr>
                  <a:t> </a:t>
                </a:r>
              </a:p>
            </p:txBody>
          </p:sp>
        </mc:Fallback>
      </mc:AlternateContent>
      <p:pic>
        <p:nvPicPr>
          <p:cNvPr id="8" name="Picture 1" descr="reddySurfaceChargingJupiters2024-fig4.png">
            <a:extLst>
              <a:ext uri="{FF2B5EF4-FFF2-40B4-BE49-F238E27FC236}">
                <a16:creationId xmlns:a16="http://schemas.microsoft.com/office/drawing/2014/main" id="{B00BBEB9-EE93-A82A-ADBB-CDEB36517EE3}"/>
              </a:ext>
            </a:extLst>
          </p:cNvPr>
          <p:cNvPicPr>
            <a:picLocks noGrp="1" noChangeAspect="1"/>
          </p:cNvPicPr>
          <p:nvPr/>
        </p:nvPicPr>
        <p:blipFill>
          <a:blip r:embed="rId6"/>
          <a:stretch>
            <a:fillRect/>
          </a:stretch>
        </p:blipFill>
        <p:spPr bwMode="auto">
          <a:xfrm>
            <a:off x="4089629" y="1754235"/>
            <a:ext cx="5105400" cy="1821224"/>
          </a:xfrm>
          <a:prstGeom prst="rect">
            <a:avLst/>
          </a:prstGeom>
          <a:noFill/>
          <a:ln w="9525">
            <a:noFill/>
            <a:headEnd/>
            <a:tailEnd/>
          </a:ln>
        </p:spPr>
      </p:pic>
      <mc:AlternateContent xmlns:mc="http://schemas.openxmlformats.org/markup-compatibility/2006">
        <mc:Choice xmlns:a14="http://schemas.microsoft.com/office/drawing/2010/main" Requires="a14">
          <p:sp>
            <p:nvSpPr>
              <p:cNvPr id="9" name="TextBox 3">
                <a:extLst>
                  <a:ext uri="{FF2B5EF4-FFF2-40B4-BE49-F238E27FC236}">
                    <a16:creationId xmlns:a16="http://schemas.microsoft.com/office/drawing/2014/main" id="{F2F4A0FF-4D03-E2A6-B580-C5167DD98074}"/>
                  </a:ext>
                </a:extLst>
              </p:cNvPr>
              <p:cNvSpPr txBox="1"/>
              <p:nvPr/>
            </p:nvSpPr>
            <p:spPr>
              <a:xfrm>
                <a:off x="4178300" y="3575459"/>
                <a:ext cx="5105400" cy="508000"/>
              </a:xfrm>
              <a:prstGeom prst="rect">
                <a:avLst/>
              </a:prstGeom>
              <a:noFill/>
            </p:spPr>
            <p:txBody>
              <a:bodyPr/>
              <a:lstStyle/>
              <a:p>
                <a:pPr marL="0" lvl="0" indent="0" algn="ctr">
                  <a:buNone/>
                </a:pPr>
                <a:r>
                  <a:rPr dirty="0"/>
                  <a:t>(a) Secondary emission yields </a:t>
                </a:r>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𝛿</m:t>
                        </m:r>
                      </m:e>
                      <m:sub>
                        <m:r>
                          <a:rPr>
                            <a:latin typeface="Cambria Math" panose="02040503050406030204" pitchFamily="18" charset="0"/>
                          </a:rPr>
                          <m:t>𝐸</m:t>
                        </m:r>
                      </m:sub>
                    </m:sSub>
                  </m:oMath>
                </a14:m>
                <a:r>
                  <a:rPr dirty="0"/>
                  <a:t>. (b) The impact on surface potentials at the anti-Jovian hemisphere during eclipse.</a:t>
                </a:r>
              </a:p>
            </p:txBody>
          </p:sp>
        </mc:Choice>
        <mc:Fallback>
          <p:sp>
            <p:nvSpPr>
              <p:cNvPr id="9" name="TextBox 3">
                <a:extLst>
                  <a:ext uri="{FF2B5EF4-FFF2-40B4-BE49-F238E27FC236}">
                    <a16:creationId xmlns:a16="http://schemas.microsoft.com/office/drawing/2014/main" id="{F2F4A0FF-4D03-E2A6-B580-C5167DD98074}"/>
                  </a:ext>
                </a:extLst>
              </p:cNvPr>
              <p:cNvSpPr txBox="1">
                <a:spLocks noRot="1" noChangeAspect="1" noMove="1" noResize="1" noEditPoints="1" noAdjustHandles="1" noChangeArrowheads="1" noChangeShapeType="1" noTextEdit="1"/>
              </p:cNvSpPr>
              <p:nvPr/>
            </p:nvSpPr>
            <p:spPr>
              <a:xfrm>
                <a:off x="4178300" y="3575459"/>
                <a:ext cx="5105400" cy="508000"/>
              </a:xfrm>
              <a:prstGeom prst="rect">
                <a:avLst/>
              </a:prstGeom>
              <a:blipFill>
                <a:blip r:embed="rId7"/>
                <a:stretch>
                  <a:fillRect t="-4878" r="-248" b="-97561"/>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410"/>
            <a:ext cx="8694963" cy="583746"/>
          </a:xfrm>
        </p:spPr>
        <p:txBody>
          <a:bodyPr>
            <a:normAutofit fontScale="90000"/>
          </a:bodyPr>
          <a:lstStyle/>
          <a:p>
            <a:pPr marL="0" lvl="0" indent="0">
              <a:buNone/>
            </a:pPr>
            <a:r>
              <a:rPr dirty="0"/>
              <a:t>7. Observational consequences and Why this matters?</a:t>
            </a:r>
          </a:p>
        </p:txBody>
      </p:sp>
      <p:sp>
        <p:nvSpPr>
          <p:cNvPr id="3" name="Content Placeholder 2"/>
          <p:cNvSpPr>
            <a:spLocks noGrp="1"/>
          </p:cNvSpPr>
          <p:nvPr>
            <p:ph idx="1"/>
          </p:nvPr>
        </p:nvSpPr>
        <p:spPr>
          <a:xfrm>
            <a:off x="138794" y="718457"/>
            <a:ext cx="5021035" cy="4253593"/>
          </a:xfrm>
        </p:spPr>
        <p:txBody>
          <a:bodyPr>
            <a:normAutofit/>
          </a:bodyPr>
          <a:lstStyle/>
          <a:p>
            <a:pPr marL="0" lvl="0" indent="0">
              <a:buNone/>
            </a:pPr>
            <a:r>
              <a:rPr sz="1800" dirty="0"/>
              <a:t>Negative surfaces accelerate secondary electrons upward along magnetic field lines. These form </a:t>
            </a:r>
            <a:r>
              <a:rPr sz="1800" b="1" dirty="0"/>
              <a:t>electron beams</a:t>
            </a:r>
            <a:r>
              <a:rPr sz="1800" dirty="0"/>
              <a:t> detectable by spacecraft (representative of the electrostatic potential difference between the spacecraft and the surface). </a:t>
            </a:r>
            <a:endParaRPr lang="en-US" sz="1800" dirty="0"/>
          </a:p>
          <a:p>
            <a:pPr marL="0" lvl="0" indent="0">
              <a:buNone/>
            </a:pPr>
            <a:endParaRPr sz="1800" dirty="0"/>
          </a:p>
          <a:p>
            <a:pPr marL="0" lvl="0" indent="0">
              <a:buNone/>
            </a:pPr>
            <a:r>
              <a:rPr lang="en-US" sz="1800" dirty="0"/>
              <a:t>This was used at Earth’s Moon and Saturn’s moon Hyperion. </a:t>
            </a:r>
            <a:r>
              <a:rPr sz="1800" dirty="0"/>
              <a:t>Same method could be used by </a:t>
            </a:r>
            <a:r>
              <a:rPr sz="1800" b="1" dirty="0"/>
              <a:t>Europa Clipper</a:t>
            </a:r>
            <a:r>
              <a:rPr sz="1800" dirty="0"/>
              <a:t> and </a:t>
            </a:r>
            <a:r>
              <a:rPr sz="1800" b="1" dirty="0"/>
              <a:t>JUICE</a:t>
            </a:r>
            <a:r>
              <a:rPr sz="1800" dirty="0"/>
              <a:t> to remotely probe </a:t>
            </a:r>
            <a:r>
              <a:rPr sz="1800" b="1" i="1" dirty="0"/>
              <a:t>surface composition</a:t>
            </a:r>
            <a:r>
              <a:rPr sz="1800" dirty="0"/>
              <a:t> using plasma instruments.</a:t>
            </a:r>
            <a:endParaRPr lang="en-US" sz="1800" dirty="0"/>
          </a:p>
          <a:p>
            <a:pPr marL="0" lvl="0" indent="0">
              <a:buNone/>
            </a:pPr>
            <a:endParaRPr sz="1800" dirty="0"/>
          </a:p>
          <a:p>
            <a:pPr marL="0" lvl="0" indent="0">
              <a:buNone/>
            </a:pPr>
            <a:r>
              <a:rPr sz="1800" dirty="0"/>
              <a:t>This makes surface charging a </a:t>
            </a:r>
            <a:r>
              <a:rPr sz="1800" b="1" dirty="0"/>
              <a:t>new diagnostic tool</a:t>
            </a:r>
            <a:r>
              <a:rPr sz="1800" dirty="0"/>
              <a:t> for Europa’s geology and chemistry.</a:t>
            </a:r>
          </a:p>
        </p:txBody>
      </p:sp>
      <p:pic>
        <p:nvPicPr>
          <p:cNvPr id="6" name="Picture 1" descr="halekasLargeNegativeLunar2005-fig1.png">
            <a:extLst>
              <a:ext uri="{FF2B5EF4-FFF2-40B4-BE49-F238E27FC236}">
                <a16:creationId xmlns:a16="http://schemas.microsoft.com/office/drawing/2014/main" id="{BDF21CD5-618A-D238-2670-3769612CA6B7}"/>
              </a:ext>
            </a:extLst>
          </p:cNvPr>
          <p:cNvPicPr>
            <a:picLocks noGrp="1" noChangeAspect="1"/>
          </p:cNvPicPr>
          <p:nvPr/>
        </p:nvPicPr>
        <p:blipFill>
          <a:blip r:embed="rId2"/>
          <a:stretch>
            <a:fillRect/>
          </a:stretch>
        </p:blipFill>
        <p:spPr bwMode="auto">
          <a:xfrm>
            <a:off x="5053693" y="1019627"/>
            <a:ext cx="3870060" cy="2782207"/>
          </a:xfrm>
          <a:prstGeom prst="rect">
            <a:avLst/>
          </a:prstGeom>
          <a:noFill/>
          <a:ln w="9525">
            <a:noFill/>
            <a:headEnd/>
            <a:tailEnd/>
          </a:ln>
        </p:spPr>
      </p:pic>
      <p:sp>
        <p:nvSpPr>
          <p:cNvPr id="7" name="TextBox 3">
            <a:extLst>
              <a:ext uri="{FF2B5EF4-FFF2-40B4-BE49-F238E27FC236}">
                <a16:creationId xmlns:a16="http://schemas.microsoft.com/office/drawing/2014/main" id="{04E56AB8-6939-AD86-4B97-1926070A2E42}"/>
              </a:ext>
            </a:extLst>
          </p:cNvPr>
          <p:cNvSpPr txBox="1"/>
          <p:nvPr/>
        </p:nvSpPr>
        <p:spPr>
          <a:xfrm>
            <a:off x="4995409" y="3956955"/>
            <a:ext cx="4009797" cy="949781"/>
          </a:xfrm>
          <a:prstGeom prst="rect">
            <a:avLst/>
          </a:prstGeom>
          <a:noFill/>
        </p:spPr>
        <p:txBody>
          <a:bodyPr/>
          <a:lstStyle/>
          <a:p>
            <a:pPr lvl="0" algn="ctr"/>
            <a:r>
              <a:rPr lang="en-US" sz="1400" b="1" i="1" dirty="0" err="1"/>
              <a:t>Halekas</a:t>
            </a:r>
            <a:r>
              <a:rPr lang="en-US" sz="1400" b="1" i="1" dirty="0"/>
              <a:t>, 2004</a:t>
            </a:r>
            <a:r>
              <a:rPr lang="en-US" sz="1400" dirty="0"/>
              <a:t>. </a:t>
            </a:r>
            <a:r>
              <a:rPr sz="1400" dirty="0"/>
              <a:t>Energy pitch angle spectrogram obtained in the plasma sheet on March 11, 1998 at 15:31 UT. Both LP and the location of magnetic connection to the lunar surface lie in shadow.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TotalTime>
  <Words>1459</Words>
  <Application>Microsoft Macintosh PowerPoint</Application>
  <PresentationFormat>On-screen Show (16:9)</PresentationFormat>
  <Paragraphs>128</Paragraphs>
  <Slides>8</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 Math</vt:lpstr>
      <vt:lpstr>Office Theme</vt:lpstr>
      <vt:lpstr>Surface charging of Jupiter’s moon europa</vt:lpstr>
      <vt:lpstr>1. Motivation: Europa in Jupiter’s plasma</vt:lpstr>
      <vt:lpstr>2. The physics model: currents balance</vt:lpstr>
      <vt:lpstr>2. The physics model: material parameters and secondary electron emission</vt:lpstr>
      <vt:lpstr>3. Simulation approach</vt:lpstr>
      <vt:lpstr>4. Main result: Europa is always negative: -14"V"→-52"V"</vt:lpstr>
      <vt:lpstr>5. The ionosphere “dampens” charging</vt:lpstr>
      <vt:lpstr>7. Observational consequences and Why this matters?</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Surface charging of Jupiter’s moon europa</dc:title>
  <dc:creator>Sachin A. Reddy; Tom A. Nordheim; Camilla D. K. Harris</dc:creator>
  <cp:keywords/>
  <cp:lastModifiedBy>Zijin Zhang</cp:lastModifiedBy>
  <cp:revision>23</cp:revision>
  <dcterms:created xsi:type="dcterms:W3CDTF">2026-01-14T17:39:28Z</dcterms:created>
  <dcterms:modified xsi:type="dcterms:W3CDTF">2026-01-14T18:36:45Z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quarto-vars">
    <vt:lpwstr/>
  </property>
  <property fmtid="{D5CDD505-2E9C-101B-9397-08002B2CF9AE}" pid="3" name="authors">
    <vt:lpwstr/>
  </property>
  <property fmtid="{D5CDD505-2E9C-101B-9397-08002B2CF9AE}" pid="4" name="biblio-config">
    <vt:lpwstr>True</vt:lpwstr>
  </property>
  <property fmtid="{D5CDD505-2E9C-101B-9397-08002B2CF9AE}" pid="5" name="bibliography">
    <vt:lpwstr/>
  </property>
  <property fmtid="{D5CDD505-2E9C-101B-9397-08002B2CF9AE}" pid="6" name="by-author">
    <vt:lpwstr/>
  </property>
  <property fmtid="{D5CDD505-2E9C-101B-9397-08002B2CF9AE}" pid="7" name="categories">
    <vt:lpwstr/>
  </property>
  <property fmtid="{D5CDD505-2E9C-101B-9397-08002B2CF9AE}" pid="8" name="code-links">
    <vt:lpwstr/>
  </property>
  <property fmtid="{D5CDD505-2E9C-101B-9397-08002B2CF9AE}" pid="9" name="date">
    <vt:lpwstr>2026-01-14</vt:lpwstr>
  </property>
  <property fmtid="{D5CDD505-2E9C-101B-9397-08002B2CF9AE}" pid="10" name="engines">
    <vt:lpwstr/>
  </property>
  <property fmtid="{D5CDD505-2E9C-101B-9397-08002B2CF9AE}" pid="11" name="header-includes">
    <vt:lpwstr/>
  </property>
  <property fmtid="{D5CDD505-2E9C-101B-9397-08002B2CF9AE}" pid="12" name="include-after">
    <vt:lpwstr/>
  </property>
  <property fmtid="{D5CDD505-2E9C-101B-9397-08002B2CF9AE}" pid="13" name="include-before">
    <vt:lpwstr/>
  </property>
  <property fmtid="{D5CDD505-2E9C-101B-9397-08002B2CF9AE}" pid="14" name="labels">
    <vt:lpwstr/>
  </property>
  <property fmtid="{D5CDD505-2E9C-101B-9397-08002B2CF9AE}" pid="15" name="toc-title">
    <vt:lpwstr>Table of contents</vt:lpwstr>
  </property>
</Properties>
</file>